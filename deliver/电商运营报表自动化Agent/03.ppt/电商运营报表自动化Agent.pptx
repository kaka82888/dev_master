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5" Type="http://schemas.openxmlformats.org/officeDocument/2006/relationships/tableStyles" Target="tableStyles.xml" /><Relationship Id="rId11" Type="http://schemas.openxmlformats.org/officeDocument/2006/relationships/slide" Target="slides/slide11.xml" /><Relationship Id="rId16" Type="http://schemas.openxmlformats.org/officeDocument/2006/relationships/viewProps" Target="viewProps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// 01 封面 · hero · 自定义版式（无 C 区）&#10;&lt;Slide style={{ width: 1280, height: 720, padding: '20px 64px', background: '#FFFFFF', fontFamily: '思源黑体', display: 'flex', flexDirection: 'column', justifyContent: 'center' }}&gt;&#10;    &lt;Box style={{ flexDirection: 'row', alignItems: 'center', gap: 56 }}&gt;&#10;        &lt;Box style={{ flex: 1.25, flexDirection: 'column', gap: 22 }}&gt;&#10;            &lt;Text style={{ fontSize: 16, color: '#2563EB', fontWeight: 600, letterSpacing: 3 }}&gt;实训项目 · 项目汇报&lt;/Text&gt;&#10;            &lt;Text style={{ fontSize: 64, fontWeight: 'bold', color: '#0F172A', lineHeight: 1.15 }}&gt;&#10;                电商运营报表&lt;br /&gt;&lt;span style={{ color: '#2563EB' }}&gt;自动化 Agent&lt;/span&gt;&#10;            &lt;/Text&gt;&#10;            &lt;Box style={{ width: 96, height: 6, background: '#F59E0B', borderRadius: 3 }} /&gt;&#10;            &lt;Text style={{ fontSize: 22, color: '#64748B', lineHeight: 1.7 }}&gt;&#10;                一句话下达指令，自动完成「读取数据 → 计算指标 → 分析波动 → 生成报告」&#10;            &lt;/Text&gt;&#10;            &lt;Text style={{ fontSize: 18, color: '#0F172A' }}&gt;&#10;                汇报人：项目组　｜　技术栈：Python · FastAPI · React · LangGraph · SQLite&#10;            &lt;/Text&gt;&#10;        &lt;/Box&gt;&#10;        &lt;Box style={{ flex: 1, height: 420, background: 'linear-gradient(135deg, #2563EB 0%, #0EA5E9 100%)', borderRadius: 20, padding: 36, flexDirection: 'column', justifyContent: 'space-between' }}&gt;&#10;            &lt;Text style={{ fontSize: 20, color: '#FFFFFF', fontWeight: 600 }}&gt;核心主张&lt;/Text&gt;&#10;            &lt;Text style={{ fontSize: 30, color: '#FFFFFF', fontWeight: 'bold', lineHeight: 1.4 }}&gt;&#10;                数值不由模型生成&lt;br /&gt;每个数字都可回溯&#10;            &lt;/Text&gt;&#10;            &lt;Box style={{ flexDirection: 'row', gap: 24 }}&gt;&#10;                &lt;Box style={{ flex: 1 }}&gt;&#10;                    &lt;Text style={{ fontSize: 34, color: '#FFFFFF', fontWeight: 'bold' }}&gt;100%&lt;/Text&gt;&#10;                    &lt;Text style={{ fontSize: 14, color: 'rgba(255,255,255,0.9)' }}&gt;危险指令拦截率&lt;/Text&gt;&#10;                &lt;/Box&gt;&#10;                &lt;Box style={{ flex: 1 }}&gt;&#10;                    &lt;Text style={{ fontSize: 34, color: '#FFFFFF', fontWeight: 'bold' }}&gt;0.000000&lt;/Text&gt;&#10;                    &lt;Text style={{ fontSize: 14, color: 'rgba(255,255,255,0.9)' }}&gt;指标对账差异&lt;/Text&gt;&#10;                &lt;/Box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409700"/>
            <a:ext cx="5800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225">
                <a:solidFill>
                  <a:srgbClr val="2563EB"/>
                </a:solidFill>
                <a:latin typeface="思源黑体"/>
                <a:ea typeface="思源黑体"/>
              </a:rPr>
              <a:t>实训项目</a:t>
            </a:r>
            <a:r>
              <a:rPr lang="en-US" sz="1200" b="1" spc="225">
                <a:solidFill>
                  <a:srgbClr val="2563EB"/>
                </a:solidFill>
                <a:latin typeface="思源黑体"/>
                <a:ea typeface="思源黑体"/>
              </a:rPr>
              <a:t> · </a:t>
            </a:r>
            <a:r>
              <a:rPr lang="zh-CN" sz="1200" b="1" spc="225">
                <a:solidFill>
                  <a:srgbClr val="2563EB"/>
                </a:solidFill>
                <a:latin typeface="思源黑体"/>
                <a:ea typeface="思源黑体"/>
              </a:rPr>
              <a:t>项目汇报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5800725" cy="16859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0F172A"/>
                </a:solidFill>
                <a:latin typeface="思源黑体"/>
                <a:ea typeface="思源黑体"/>
              </a:rPr>
              <a:t>电商运营报表</a:t>
            </a:r>
            <a:endParaRPr/>
          </a:p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2563EB"/>
                </a:solidFill>
                <a:latin typeface="思源黑体"/>
                <a:ea typeface="思源黑体"/>
              </a:rPr>
              <a:t>自动化</a:t>
            </a:r>
            <a:r>
              <a:rPr lang="en-US" sz="4800" b="1">
                <a:solidFill>
                  <a:srgbClr val="2563E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3705225"/>
            <a:ext cx="9144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580072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一句话下达指令，自动完成「读取数据</a:t>
            </a:r>
            <a:r>
              <a:rPr lang="en-US" sz="1650">
                <a:solidFill>
                  <a:srgbClr val="64748B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计算指标</a:t>
            </a:r>
            <a:r>
              <a:rPr lang="en-US" sz="1650">
                <a:solidFill>
                  <a:srgbClr val="64748B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分析波动</a:t>
            </a:r>
            <a:r>
              <a:rPr lang="en-US" sz="1650">
                <a:solidFill>
                  <a:srgbClr val="64748B"/>
                </a:solidFill>
                <a:latin typeface="思源黑体"/>
                <a:ea typeface="思源黑体"/>
              </a:rPr>
              <a:t> → </a:t>
            </a: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生成报告」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5038725"/>
            <a:ext cx="580072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汇报人：项目组　｜　技术栈：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Python · FastAPI · React · LangGraph · SQLite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943725" y="1438275"/>
            <a:ext cx="4638675" cy="4000500"/>
          </a:xfrm>
          <a:prstGeom prst="roundRect">
            <a:avLst>
              <a:gd name="adj" fmla="val 4762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86625" y="1781175"/>
            <a:ext cx="395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核心主张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86625" y="2800350"/>
            <a:ext cx="3952875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数值不由模型生成</a:t>
            </a:r>
            <a:endParaRPr/>
          </a:p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思源黑体"/>
                <a:ea typeface="思源黑体"/>
              </a:rPr>
              <a:t>每个数字都可回溯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286625" y="4543425"/>
            <a:ext cx="1866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100%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286625" y="493395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危险指令拦截率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382125" y="4543425"/>
            <a:ext cx="1857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0.000000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9382125" y="4933950"/>
            <a:ext cx="1857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指标对账差异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7" name="" descr="// 02 目录 · supporting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目录&lt;/Text&gt;&#10;            &lt;Text style={{ fontSize: 16, color: '#64748B' }}&gt;本次汇报分六个部分：从问题出发，到交付收束&lt;/Text&gt;&#10;        &lt;/Box&gt;&#10;    &lt;/Box&gt;&#10;    {/* B 内容区 */}&#10;    &lt;Box style={{ height: 540, flexDirection: 'column', gap: 20 }}&gt;&#10;        &lt;Box style={{ flexDirection: 'row', gap: 24, flex: 1 }}&gt;&#10;            &lt;Box style={{ flex: 1, background: 'rgba(37,99,235,0.06)', borderRadius: 12, padding: 24, flexDirection: 'row', gap: 18, alignItems: 'center' }}&gt;&#10;                &lt;Text style={{ fontSize: 40, fontWeight: 'bold', color: '#2563EB' }}&gt;01&lt;/Text&gt;&#10;                &lt;Box style={{ flexDirection: 'column', gap: 6 }}&gt;&#10;                    &lt;Text style={{ fontSize: 22, fontWeight: 600, color: '#0F172A' }}&gt;项目背景与痛点&lt;/Text&gt;&#10;                    &lt;Text style={{ fontSize: 16, color: '#64748B', lineHeight: 1.5 }}&gt;人工制表为何低效、为何容易出错&lt;/Text&gt;&#10;                &lt;/Box&gt;&#10;            &lt;/Box&gt;&#10;            &lt;Box style={{ flex: 1, background: 'rgba(37,99,235,0.06)', borderRadius: 12, padding: 24, flexDirection: 'row', gap: 18, alignItems: 'center' }}&gt;&#10;                &lt;Text style={{ fontSize: 40, fontWeight: 'bold', color: '#2563EB' }}&gt;02&lt;/Text&gt;&#10;                &lt;Box style={{ flexDirection: 'column', gap: 6 }}&gt;&#10;                    &lt;Text style={{ fontSize: 22, fontWeight: 600, color: '#0F172A' }}&gt;目标与成功指标&lt;/Text&gt;&#10;                    &lt;Text style={{ fontSize: 16, color: '#64748B', lineHeight: 1.5 }}&gt;三个硬指标定义&quot;什么算做成了&quot;&lt;/Text&gt;&#10;                &lt;/Box&gt;&#10;            &lt;/Box&gt;&#10;        &lt;/Box&gt;&#10;        &lt;Box style={{ flexDirection: 'row', gap: 24, flex: 1 }}&gt;&#10;            &lt;Box style={{ flex: 1, background: 'rgba(37,99,235,0.06)', borderRadius: 12, padding: 24, flexDirection: 'row', gap: 18, alignItems: 'center' }}&gt;&#10;                &lt;Text style={{ fontSize: 40, fontWeight: 'bold', color: '#2563EB' }}&gt;03&lt;/Text&gt;&#10;                &lt;Box style={{ flexDirection: 'column', gap: 6 }}&gt;&#10;                    &lt;Text style={{ fontSize: 22, fontWeight: 600, color: '#0F172A' }}&gt;技术方案与架构&lt;/Text&gt;&#10;                    &lt;Text style={{ fontSize: 16, color: '#64748B', lineHeight: 1.5 }}&gt;技术栈选型与四层系统架构&lt;/Text&gt;&#10;                &lt;/Box&gt;&#10;            &lt;/Box&gt;&#10;            &lt;Box style={{ flex: 1, background: 'rgba(37,99,235,0.06)', borderRadius: 12, padding: 24, flexDirection: 'row', gap: 18, alignItems: 'center' }}&gt;&#10;                &lt;Text style={{ fontSize: 40, fontWeight: 'bold', color: '#2563EB' }}&gt;04&lt;/Text&gt;&#10;                &lt;Box style={{ flexDirection: 'column', gap: 6 }}&gt;&#10;                    &lt;Text style={{ fontSize: 22, fontWeight: 600, color: '#0F172A' }}&gt;数据与指标口径&lt;/Text&gt;&#10;                    &lt;Text style={{ fontSize: 16, color: '#64748B', lineHeight: 1.5 }}&gt;数据来源、清洗规则与口径定义&lt;/Text&gt;&#10;                &lt;/Box&gt;&#10;            &lt;/Box&gt;&#10;        &lt;/Box&gt;&#10;        &lt;Box style={{ flexDirection: 'row', gap: 24, flex: 1 }}&gt;&#10;            &lt;Box style={{ flex: 1, background: 'rgba(37,99,235,0.06)', borderRadius: 12, padding: 24, flexDirection: 'row', gap: 18, alignItems: 'center' }}&gt;&#10;                &lt;Text style={{ fontSize: 40, fontWeight: 'bold', color: '#2563EB' }}&gt;05&lt;/Text&gt;&#10;                &lt;Box style={{ flexDirection: 'column', gap: 6 }}&gt;&#10;                    &lt;Text style={{ fontSize: 22, fontWeight: 600, color: '#0F172A' }}&gt;核心实现与实测结果&lt;/Text&gt;&#10;                    &lt;Text style={{ fontSize: 16, color: '#64748B', lineHeight: 1.5 }}&gt;关键设计与三项硬指标实测&lt;/Text&gt;&#10;                &lt;/Box&gt;&#10;            &lt;/Box&gt;&#10;            &lt;Box style={{ flex: 1, background: 'rgba(37,99,235,0.06)', borderRadius: 12, padding: 24, flexDirection: 'row', gap: 18, alignItems: 'center' }}&gt;&#10;                &lt;Text style={{ fontSize: 40, fontWeight: 'bold', color: '#2563EB' }}&gt;06&lt;/Text&gt;&#10;                &lt;Box style={{ flexDirection: 'column', gap: 6 }}&gt;&#10;                    &lt;Text style={{ fontSize: 22, fontWeight: 600, color: '#0F172A' }}&gt;难点应对与交付&lt;/Text&gt;&#10;                    &lt;Text style={{ fontSize: 16, color: '#64748B', lineHeight: 1.5 }}&gt;四个难点及工程化应对、交付清单&lt;/Text&gt;&#10;                &lt;/Box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2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20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目录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本次汇报分六个部分：从问题出发，到交付收束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1143000"/>
            <a:ext cx="5372100" cy="1590675"/>
          </a:xfrm>
          <a:prstGeom prst="roundRect">
            <a:avLst>
              <a:gd name="adj" fmla="val 718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38200" y="1714500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495425" y="1647825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项目背景与痛点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495425" y="196215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人工制表为何低效、为何容易出错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210300" y="1143000"/>
            <a:ext cx="5372100" cy="1590675"/>
          </a:xfrm>
          <a:prstGeom prst="roundRect">
            <a:avLst>
              <a:gd name="adj" fmla="val 718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38900" y="1714500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096125" y="1647825"/>
            <a:ext cx="2105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目标与成功指标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096125" y="1962150"/>
            <a:ext cx="21050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三个硬指标定义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什么算做成了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2924175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3486150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495425" y="341947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技术方案与架构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495425" y="3733800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技术栈选型与四层系统架构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210300" y="2924175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38900" y="3486150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096125" y="3419475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数据与指标口径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096125" y="3733800"/>
            <a:ext cx="2133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数据来源、清洗规则与口径定义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4695825"/>
            <a:ext cx="5372100" cy="1590675"/>
          </a:xfrm>
          <a:prstGeom prst="roundRect">
            <a:avLst>
              <a:gd name="adj" fmla="val 718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495425" y="520065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核心实现与实测结果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495425" y="5514975"/>
            <a:ext cx="18859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关键设计与三项硬指标实测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210300" y="4695825"/>
            <a:ext cx="5372100" cy="1590675"/>
          </a:xfrm>
          <a:prstGeom prst="roundRect">
            <a:avLst>
              <a:gd name="adj" fmla="val 718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438900" y="5267325"/>
            <a:ext cx="48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563EB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096125" y="5200650"/>
            <a:ext cx="2286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难点应对与交付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096125" y="551497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四个难点及工程化应对、交付清单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7" name="" descr="// 03 项目背景与痛点 · supporting · 2×2 卡片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项目背景与痛点&lt;/Text&gt;&#10;            &lt;Text style={{ fontSize: 16, color: '#64748B' }}&gt;电商运营团队每天要做的&quot;重复劳动&quot;，正是本项目要替代的对象&lt;/Text&gt;&#10;        &lt;/Box&gt;&#10;        &lt;Box style={{ flexDirection: 'column', alignItems: 'flex-end' }}&gt;&#10;            &lt;Text style={{ fontSize: 40, fontWeight: 'bold', color: '#F59E0B' }}&gt;4&lt;/Text&gt;&#10;            &lt;Text style={{ fontSize: 14, color: '#64748B' }}&gt;核心痛点&lt;/Text&gt;&#10;        &lt;/Box&gt;&#10;    &lt;/Box&gt;&#10;    {/* B 内容区 */}&#10;    &lt;Box style={{ height: 540, flexDirection: 'column', gap: 20 }}&gt;&#10;        &lt;Box style={{ flexDirection: 'row', gap: 20, flex: 1 }}&gt;&#10;            &lt;Box style={{ flex: 1, background: '#FFFFFF', border: '1px solid #E2E8F0', borderRadius: 12, padding: 24, flexDirection: 'column', gap: 12, boxShadow: '0 4px 20px rgba(15,23,42,0.08)' }}&gt;&#10;                &lt;Box style={{ flexDirection: 'row', alignItems: 'center', gap: 12 }}&gt;&#10;                    &lt;Box style={{ width: 40, height: 40, borderRadius: 10, background: '#2563EB', alignItems: 'center', justifyContent: 'center' }}&gt;&#10;                        &lt;Text style={{ fontSize: 20, color: '#FFFFFF', fontWeight: 'bold' }}&gt;1&lt;/Text&gt;&#10;                    &lt;/Box&gt;&#10;                    &lt;Text style={{ fontSize: 24, fontWeight: 600, color: '#0F172A' }}&gt;重复劳动量大&lt;/Text&gt;&#10;                &lt;/Box&gt;&#10;                &lt;Text style={{ fontSize: 20, color: '#0F172A', lineHeight: 1.6 }}&gt;&#10;                    运营人员每天需要从销售 Excel 与业务库中手工汇总 GMV、订单量、客单价、退款率等指标，再排版成日报周报。取数与排版这类机械性工作占用了大量精力，真正用于分析与决策的时间被严重挤压。&#10;                &lt;/Text&gt;&#10;            &lt;/Box&gt;&#10;            &lt;Box style={{ flex: 1, background: '#FFFFFF', border: '1px solid #E2E8F0', borderRadius: 12, padding: 24, flexDirection: 'column', gap: 12, boxShadow: '0 4px 20px rgba(15,23,42,0.08)' }}&gt;&#10;                &lt;Box style={{ flexDirection: 'row', alignItems: 'center', gap: 12 }}&gt;&#10;                    &lt;Box style={{ width: 40, height: 40, borderRadius: 10, background: '#2563EB', alignItems: 'center', justifyContent: 'center' }}&gt;&#10;                        &lt;Text style={{ fontSize: 20, color: '#FFFFFF', fontWeight: 'bold' }}&gt;2&lt;/Text&gt;&#10;                    &lt;/Box&gt;&#10;                    &lt;Text style={{ fontSize: 24, fontWeight: 600, color: '#0F172A' }}&gt;统计口径易错&lt;/Text&gt;&#10;                &lt;/Box&gt;&#10;                &lt;Text style={{ fontSize: 20, color: '#0F172A', lineHeight: 1.6 }}&gt;&#10;                    同一指标在不同口径下数值差异巨大：退款率按&quot;金额口径&quot;约 7.44%，按&quot;订单数口径&quot;约 21.79%，相差约三倍。若报表不标注口径，使用者会得出完全不同的结论，甚至据此做出错误决策。&#10;                &lt;/Text&gt;&#10;            &lt;/Box&gt;&#10;        &lt;/Box&gt;&#10;        &lt;Box style={{ flexDirection: 'row', gap: 20, flex: 1 }}&gt;&#10;            &lt;Box style={{ flex: 1, background: '#FFFFFF', border: '1px solid #E2E8F0', borderRadius: 12, padding: 24, flexDirection: 'column', gap: 12, boxShadow: '0 4px 20px rgba(15,23,42,0.08)' }}&gt;&#10;                &lt;Box style={{ flexDirection: 'row', alignItems: 'center', gap: 12 }}&gt;&#10;                    &lt;Box style={{ width: 40, height: 40, borderRadius: 10, background: '#2563EB', alignItems: 'center', justifyContent: 'center' }}&gt;&#10;                        &lt;Text style={{ fontSize: 20, color: '#FFFFFF', fontWeight: 'bold' }}&gt;3&lt;/Text&gt;&#10;                    &lt;/Box&gt;&#10;                    &lt;Text style={{ fontSize: 24, fontWeight: 600, color: '#0F172A' }}&gt;产出滞后于决策&lt;/Text&gt;&#10;                &lt;/Box&gt;&#10;                &lt;Text style={{ fontSize: 20, color: '#0F172A', lineHeight: 1.6 }}&gt;&#10;                    促销节点数据量激增，人工汇总耗时显著拉长，报表产出常常滞后于运营决策的节奏。等到数据整理完成，最佳调整窗口可能已经错过，报表从&quot;决策依据&quot;退化为&quot;事后记录&quot;。&#10;                &lt;/Text&gt;&#10;            &lt;/Box&gt;&#10;            &lt;Box style={{ flex: 1, background: '#FFFFFF', border: '1px solid #E2E8F0', borderRadius: 12, padding: 24, flexDirection: 'column', gap: 12, boxShadow: '0 4px 20px rgba(15,23,42,0.08)' }}&gt;&#10;                &lt;Box style={{ flexDirection: 'row', alignItems: 'center', gap: 12 }}&gt;&#10;                    &lt;Box style={{ width: 40, height: 40, borderRadius: 10, background: '#2563EB', alignItems: 'center', justifyContent: 'center' }}&gt;&#10;                        &lt;Text style={{ fontSize: 20, color: '#FFFFFF', fontWeight: 'bold' }}&gt;4&lt;/Text&gt;&#10;                    &lt;/Box&gt;&#10;                    &lt;Text style={{ fontSize: 24, fontWeight: 600, color: '#0F172A' }}&gt;数值不可追溯&lt;/Text&gt;&#10;                &lt;/Box&gt;&#10;                &lt;Text style={{ fontSize: 20, color: '#0F172A', lineHeight: 1.6 }}&gt;&#10;                    人工 Excel 计算过程难以复现，一旦数字存疑，往往无法说明它由哪一步清洗、哪一条口径算出。审计与复盘成本极高，也让&quot;数据可信&quot;成为空话。&#10;                &lt;/Text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3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423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项目背景与痛点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电商运营团队每天要做的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重复劳动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，正是本项目要替代的对象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334750" y="361950"/>
            <a:ext cx="247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049000" y="819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核心痛点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114300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838200" y="13716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71550" y="1447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333500" y="14287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重复劳动量大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49339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运营人员每天需要从销售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 Excel 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与业务库中手工汇总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 GMV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、订单量、客单价、退款率等指标，再排版成日报周报。取数与排版这类机械性工作占用了大量精力，真正用于分析与决策的时间被严重挤压。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191250" y="114300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6419850" y="13716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553200" y="1447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915150" y="14287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统计口径易错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19850" y="1866900"/>
            <a:ext cx="49339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同一指标在不同口径下数值差异巨大：退款率按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金额口径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约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 7.44%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，按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订单数口径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约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 21.79%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，相差约三倍。若报表不标注口径，使用者会得出完全不同的结论，甚至据此做出错误决策。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381000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838200" y="40386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971550" y="4114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333500" y="4095750"/>
            <a:ext cx="1600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产出滞后于决策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8200" y="4533900"/>
            <a:ext cx="49339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促销节点数据量激增，人工汇总耗时显著拉长，报表产出常常滞后于运营决策的节奏。等到数据整理完成，最佳调整窗口可能已经错过，报表从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决策依据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退化为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事后记录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191250" y="3810000"/>
            <a:ext cx="539115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419850" y="40386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553200" y="411480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915150" y="4095750"/>
            <a:ext cx="1371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数值不可追溯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419850" y="4533900"/>
            <a:ext cx="49339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人工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 Excel 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计算过程难以复现，一旦数字存疑，往往无法说明它由哪一步清洗、哪一条口径算出。审计与复盘成本极高，也让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数据可信</a:t>
            </a:r>
            <a:r>
              <a:rPr lang="en-US" sz="15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0F172A"/>
                </a:solidFill>
                <a:latin typeface="思源黑体"/>
                <a:ea typeface="思源黑体"/>
              </a:rPr>
              <a:t>成为空话。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55" name="" descr="// 04 目标与成功指标 · hero · 三巨型数字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目标与成功指标&lt;/Text&gt;&#10;            &lt;Text style={{ fontSize: 16, color: '#64748B' }}&gt;三个硬指标，定义&quot;什么算做成了&quot;——全部可测量、可复现&lt;/Text&gt;&#10;        &lt;/Box&gt;&#10;    &lt;/Box&gt;&#10;    {/* B 内容区 */}&#10;    &lt;Box style={{ height: 540, flexDirection: 'column', gap: 20 }}&gt;&#10;        &lt;Box style={{ flexDirection: 'row', gap: 20, flex: 1.35 }}&gt;&#10;            &lt;Box style={{ flex: 1, background: 'rgba(245,158,11,0.10)', borderRadius: 16, padding: 28, flexDirection: 'column', justifyContent: 'center', gap: 14 }}&gt;&#10;                &lt;Text style={{ fontSize: 76, fontWeight: 'bold', color: '#F59E0B', letterSpacing: -1 }}&gt;≥99%&lt;/Text&gt;&#10;                &lt;Text style={{ fontSize: 24, fontWeight: 600, color: '#0F172A' }}&gt;指标准确性&lt;/Text&gt;&#10;                &lt;Text style={{ fontSize: 18, color: '#64748B', lineHeight: 1.6 }}&gt;&#10;                    以&quot;双轨对账&quot;为证据：pandas 与纯 SQL 两条独立实现互验，差异必须为 0&#10;                &lt;/Text&gt;&#10;            &lt;/Box&gt;&#10;            &lt;Box style={{ flex: 1, background: 'rgba(245,158,11,0.10)', borderRadius: 16, padding: 28, flexDirection: 'column', justifyContent: 'center', gap: 14 }}&gt;&#10;                &lt;Text style={{ fontSize: 76, fontWeight: 'bold', color: '#F59E0B', letterSpacing: -1 }}&gt;≥90%&lt;/Text&gt;&#10;                &lt;Text style={{ fontSize: 24, fontWeight: 600, color: '#0F172A' }}&gt;指令解析准确率&lt;/Text&gt;&#10;                &lt;Text style={{ fontSize: 18, color: '#64748B', lineHeight: 1.6 }}&gt;&#10;                    以&quot;评测集跑分&quot;为证据：主集 55 条 + 留出集 35 条，四项字段全对才计分&#10;                &lt;/Text&gt;&#10;            &lt;/Box&gt;&#10;            &lt;Box style={{ flex: 1, background: 'rgba(245,158,11,0.10)', borderRadius: 16, padding: 28, flexDirection: 'column', justifyContent: 'center', gap: 14 }}&gt;&#10;                &lt;Text style={{ fontSize: 76, fontWeight: 'bold', color: '#F59E0B', letterSpacing: -1 }}&gt;≤2min&lt;/Text&gt;&#10;                &lt;Text style={{ fontSize: 24, fontWeight: 600, color: '#0F172A' }}&gt;单份日报生成时间&lt;/Text&gt;&#10;                &lt;Text style={{ fontSize: 18, color: '#64748B', lineHeight: 1.6 }}&gt;&#10;                    以&quot;端到端采样&quot;为证据：多次运行统计均值与 P95，覆盖规则与大模型两条通道&#10;                &lt;/Text&gt;&#10;            &lt;/Box&gt;&#10;        &lt;/Box&gt;&#10;        &lt;Box style={{ flex: 1, background: '#2563EB', borderRadius: 16, padding: 28, flexDirection: 'row', alignItems: 'center', gap: 28 }}&gt;&#10;            &lt;Text style={{ fontSize: 22, color: '#FFFFFF', fontWeight: 600 }}&gt;设计前提&lt;/Text&gt;&#10;            &lt;Text style={{ fontSize: 22, color: '#FFFFFF', lineHeight: 1.6 }}&gt;&#10;                报表类系统的最大风险不是&quot;跑不起来&quot;，而是&quot;数字算错却没人发现&quot;。&#10;                因此本项目把&quot;数值可信&quot;放在第一位：&lt;span style={{ fontWeight: 'bold' }}&gt;所有数字由计算组件产出，大模型只做语言理解&lt;/span&gt;，&#10;                并用自动化对账替代人工抽样核算，使每一项结论都能一键复现。&#10;            &lt;/Text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4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905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目标与成功指标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90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三个硬指标，定义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什么算做成了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"——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全部可测量、可复现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1143000"/>
            <a:ext cx="3533775" cy="3324225"/>
          </a:xfrm>
          <a:prstGeom prst="roundRect">
            <a:avLst>
              <a:gd name="adj" fmla="val 4585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76300" y="1762125"/>
            <a:ext cx="30003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F59E0B"/>
                </a:solidFill>
                <a:latin typeface="思源黑体"/>
                <a:ea typeface="思源黑体"/>
              </a:rPr>
              <a:t>≥99%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76300" y="2771775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指标准确性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3000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以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双轨对账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为证据：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pandas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与纯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SQL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两条独立实现互验，差异必须为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0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333875" y="1143000"/>
            <a:ext cx="3524250" cy="3324225"/>
          </a:xfrm>
          <a:prstGeom prst="roundRect">
            <a:avLst>
              <a:gd name="adj" fmla="val 4585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600575" y="1762125"/>
            <a:ext cx="29908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F59E0B"/>
                </a:solidFill>
                <a:latin typeface="思源黑体"/>
                <a:ea typeface="思源黑体"/>
              </a:rPr>
              <a:t>≥90%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00575" y="2771775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指令解析准确率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600575" y="3181350"/>
            <a:ext cx="29908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以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评测集跑分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为证据：主集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55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条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+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留出集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35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条，四项字段全对才计分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048625" y="1143000"/>
            <a:ext cx="3533775" cy="3324225"/>
          </a:xfrm>
          <a:prstGeom prst="roundRect">
            <a:avLst>
              <a:gd name="adj" fmla="val 4585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315325" y="1600200"/>
            <a:ext cx="30003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F59E0B"/>
                </a:solidFill>
                <a:latin typeface="思源黑体"/>
                <a:ea typeface="思源黑体"/>
              </a:rPr>
              <a:t>≤2min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315325" y="2609850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单份日报生成时间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315325" y="3019425"/>
            <a:ext cx="30003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以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端到端采样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为证据：多次运行统计均值与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P95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，覆盖规则与大模型两条通道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4657725"/>
            <a:ext cx="10972800" cy="1628775"/>
          </a:xfrm>
          <a:prstGeom prst="roundRect">
            <a:avLst>
              <a:gd name="adj" fmla="val 9357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76300" y="5343525"/>
            <a:ext cx="752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设计前提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895475" y="5067300"/>
            <a:ext cx="942022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报表类系统的最大风险不是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跑不起来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，而是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数字算错却没人发现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。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 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因此本项目把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数值可信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放在第一位：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所有数字由计算组件产出，大模型只做语言理解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，</a:t>
            </a:r>
            <a:r>
              <a:rPr lang="en-US" sz="1650">
                <a:solidFill>
                  <a:srgbClr val="FFFFFF"/>
                </a:solidFill>
                <a:latin typeface="思源黑体"/>
                <a:ea typeface="思源黑体"/>
              </a:rPr>
              <a:t> </a:t>
            </a:r>
            <a:r>
              <a:rPr lang="zh-CN" sz="1650">
                <a:solidFill>
                  <a:srgbClr val="FFFFFF"/>
                </a:solidFill>
                <a:latin typeface="思源黑体"/>
                <a:ea typeface="思源黑体"/>
              </a:rPr>
              <a:t>并用自动化对账替代人工抽样核算，使每一项结论都能一键复现。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76" name="" descr="// 05 技术方案与技术栈 · supporting · 五层技术栈条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技术方案与技术栈&lt;/Text&gt;&#10;            &lt;Text style={{ fontSize: 16, color: '#64748B' }}&gt;选型原则：数值可信、失败可退、部署简单——不追求新技术堆砌&lt;/Text&gt;&#10;        &lt;/Box&gt;&#10;    &lt;/Box&gt;&#10;    {/* B 内容区 */}&#10;    &lt;Box style={{ height: 540, flexDirection: 'column', gap: 14 }}&gt;&#10;        &lt;Box style={{ flex: 1, flexDirection: 'row', gap: 20, alignItems: 'center', background: 'rgba(37,99,235,0.06)', borderRadius: 12, padding: '0 24px' }}&gt;&#10;            &lt;Box style={{ width: 150 }}&gt;&#10;                &lt;Text style={{ fontSize: 20, fontWeight: 600, color: '#2563EB' }}&gt;前端展示层&lt;/Text&gt;&#10;            &lt;/Box&gt;&#10;            &lt;Text style={{ flex: 1, fontSize: 18, color: '#0F172A', lineHeight: 1.5 }}&gt;&#10;                React 18 + TypeScript + Vite 5 ｜ 自建设计系统（Design Tokens）｜ 报告 Markdown 块组件化渲染 ｜ 生成进度轮询&#10;            &lt;/Text&gt;&#10;        &lt;/Box&gt;&#10;        &lt;Box style={{ flex: 1, flexDirection: 'row', gap: 20, alignItems: 'center', background: 'rgba(37,99,235,0.06)', borderRadius: 12, padding: '0 24px' }}&gt;&#10;            &lt;Box style={{ width: 150 }}&gt;&#10;                &lt;Text style={{ fontSize: 20, fontWeight: 600, color: '#2563EB' }}&gt;服务接口层&lt;/Text&gt;&#10;            &lt;/Box&gt;&#10;            &lt;Text style={{ flex: 1, fontSize: 18, color: '#0F172A', lineHeight: 1.5 }}&gt;&#10;                FastAPI + uvicorn ｜ JWT 鉴权（bcrypt 哈希）｜ 报告生命周期接口（含异步生成）｜ 单端口托管前端静态产物&#10;            &lt;/Text&gt;&#10;        &lt;/Box&gt;&#10;        &lt;Box style={{ flex: 1, flexDirection: 'row', gap: 20, alignItems: 'center', background: 'rgba(37,99,235,0.06)', borderRadius: 12, padding: '0 24px' }}&gt;&#10;            &lt;Box style={{ width: 150 }}&gt;&#10;                &lt;Text style={{ fontSize: 20, fontWeight: 600, color: '#2563EB' }}&gt;智能体内核层&lt;/Text&gt;&#10;            &lt;/Box&gt;&#10;            &lt;Text style={{ flex: 1, fontSize: 18, color: '#0F172A', lineHeight: 1.5 }}&gt;&#10;                LangGraph 状态机（plan→execute→reflect→build）｜ 安全网关前置 ｜ 规则通道 + 大模型通道双通道&#10;            &lt;/Text&gt;&#10;        &lt;/Box&gt;&#10;        &lt;Box style={{ flex: 1, flexDirection: 'row', gap: 20, alignItems: 'center', background: 'rgba(37,99,235,0.06)', borderRadius: 12, padding: '0 24px' }}&gt;&#10;            &lt;Box style={{ width: 150 }}&gt;&#10;                &lt;Text style={{ fontSize: 20, fontWeight: 600, color: '#2563EB' }}&gt;数据处理层&lt;/Text&gt;&#10;            &lt;/Box&gt;&#10;            &lt;Text style={{ flex: 1, fontSize: 18, color: '#0F172A', lineHeight: 1.5 }}&gt;&#10;                pandas / openpyxl 指标计算 ｜ 清洗规则 R1–R6 ｜ 双轨对账（pandas vs 纯 SQL）｜ 报告导出（python-docx）&#10;            &lt;/Text&gt;&#10;        &lt;/Box&gt;&#10;        &lt;Box style={{ flex: 1, flexDirection: 'row', gap: 20, alignItems: 'center', background: 'rgba(37,99,235,0.06)', borderRadius: 12, padding: '0 24px' }}&gt;&#10;            &lt;Box style={{ width: 150 }}&gt;&#10;                &lt;Text style={{ fontSize: 20, fontWeight: 600, color: '#2563EB' }}&gt;数据存储层&lt;/Text&gt;&#10;            &lt;/Box&gt;&#10;            &lt;Text style={{ flex: 1, fontSize: 18, color: '#0F172A', lineHeight: 1.5 }}&gt;&#10;                SQLite 双库：report_agent.db（唯一事实表，只读）+ app.db（用户与报告记录），物理隔离&#10;            &lt;/Text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5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4400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技术方案与技术栈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选型原则：数值可信、失败可退、部署简单——不追求新技术堆砌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143000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38200" y="14954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前端展示层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2457450" y="1447800"/>
            <a:ext cx="8896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React 18 + TypeScript + Vite 5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自建设计系统（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Design Tokens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）｜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Markdown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块组件化渲染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生成进度轮询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2200275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255270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服务接口层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457450" y="2505075"/>
            <a:ext cx="8896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FastAPI + uvicorn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JWT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鉴权（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bcrypt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哈希）｜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报告生命周期接口（含异步生成）｜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单端口托管前端静态产物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3257550"/>
            <a:ext cx="10972800" cy="914400"/>
          </a:xfrm>
          <a:prstGeom prst="roundRect">
            <a:avLst>
              <a:gd name="adj" fmla="val 12500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360045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智能体内核层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457450" y="3562350"/>
            <a:ext cx="8896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LangGraph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状态机（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plan→execute→reflect→build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）｜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安全网关前置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规则通道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+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大模型通道双通道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4305300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46577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数据处理层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457450" y="4610100"/>
            <a:ext cx="8896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pandas / openpyxl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指标计算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清洗规则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R1–R6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双轨对账（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pandas vs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纯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SQL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）｜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报告导出（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python-docx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）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5362575"/>
            <a:ext cx="10972800" cy="923925"/>
          </a:xfrm>
          <a:prstGeom prst="roundRect">
            <a:avLst>
              <a:gd name="adj" fmla="val 12371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571500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数据存储层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457450" y="5667375"/>
            <a:ext cx="88963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SQLite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双库：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report_agent.db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（唯一事实表，只读）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+ app.db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（用户与报告记录），物理隔离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7" name="" descr="// 06 系统架构 · hero · 四层架构图（占 B 区 ≥ 45%）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系统架构&lt;/Text&gt;&#10;            &lt;Text style={{ fontSize: 16, color: '#64748B' }}&gt;前后端分离的四层架构：让&quot;理解&quot;与&quot;计算&quot;彻底分离&lt;/Text&gt;&#10;        &lt;/Box&gt;&#10;    &lt;/Box&gt;&#10;    {/* B 内容区 */}&#10;    &lt;Box style={{ height: 540, flexDirection: 'row', gap: 24 }}&gt;&#10;        &lt;Box style={{ flex: 1.9, flexDirection: 'column', gap: 14 }}&gt;&#10;            &lt;Box style={{ flex: 1, background: 'linear-gradient(135deg, #2563EB 0%, #0EA5E9 100%)', borderRadius: 14, padding: '0 26px', flexDirection: 'row', alignItems: 'center', gap: 22 }}&gt;&#10;                &lt;Text style={{ fontSize: 22, fontWeight: 'bold', color: '#FFFFFF', width: 160 }}&gt;① 前端展示层&lt;/Text&gt;&#10;                &lt;Text style={{ flex: 1, fontSize: 18, color: '#FFFFFF', lineHeight: 1.5 }}&gt;&#10;                    指令输入 · 生成进度 · 报告预览与确认 · 归档导出 · 历史筛选&#10;                &lt;/Text&gt;&#10;            &lt;/Box&gt;&#10;            &lt;Box style={{ flex: 1, background: 'rgba(37,99,235,0.12)', borderRadius: 14, padding: '0 26px', flexDirection: 'row', alignItems: 'center', gap: 22 }}&gt;&#10;                &lt;Text style={{ fontSize: 22, fontWeight: 'bold', color: '#2563EB', width: 160 }}&gt;② 服务接口层&lt;/Text&gt;&#10;                &lt;Text style={{ flex: 1, fontSize: 18, color: '#0F172A', lineHeight: 1.5 }}&gt;&#10;                    鉴权（JWT）· 报告生命周期接口 · 异步生成 · 导出 · 静态托管前端&#10;                &lt;/Text&gt;&#10;            &lt;/Box&gt;&#10;            &lt;Box style={{ flex: 1.35, background: 'rgba(245,158,11,0.12)', border: '2px solid #F59E0B', borderRadius: 14, padding: '0 26px', flexDirection: 'column', justifyContent: 'center', gap: 8 }}&gt;&#10;                &lt;Box style={{ flexDirection: 'row', alignItems: 'center', gap: 22 }}&gt;&#10;                    &lt;Text style={{ fontSize: 22, fontWeight: 'bold', color: '#F59E0B', width: 160 }}&gt;③ 智能体内核&lt;/Text&gt;&#10;                    &lt;Text style={{ flex: 1, fontSize: 18, color: '#0F172A', lineHeight: 1.5 }}&gt;&#10;                        安全网关 → 意图解析（规则 / 大模型双通道）→ LangGraph 状态机 → 指标查询 → 报告渲染&#10;                    &lt;/Text&gt;&#10;                &lt;/Box&gt;&#10;                &lt;Text style={{ fontSize: 16, color: '#64748B', marginLeft: 182 }}&gt;&#10;                    硬约束：本层只产出&quot;意图与文字&quot;，不产出任何数值&#10;                &lt;/Text&gt;&#10;            &lt;/Box&gt;&#10;            &lt;Box style={{ flex: 1, background: 'rgba(37,99,235,0.12)', borderRadius: 14, padding: '0 26px', flexDirection: 'row', alignItems: 'center', gap: 22 }}&gt;&#10;                &lt;Text style={{ fontSize: 22, fontWeight: 'bold', color: '#2563EB', width: 160 }}&gt;④ 数据存储层&lt;/Text&gt;&#10;                &lt;Text style={{ flex: 1, fontSize: 18, color: '#0F172A', lineHeight: 1.5 }}&gt;&#10;                    唯一事实表 sales_detail（1,033,031 行，只读）· 应用库（用户 / 报告）&#10;                &lt;/Text&gt;&#10;            &lt;/Box&gt;&#10;        &lt;/Box&gt;&#10;        &lt;Box style={{ flex: 1, flexDirection: 'column', gap: 14 }}&gt;&#10;            &lt;Box style={{ flex: 1, background: '#FFFFFF', border: '1px solid #E2E8F0', borderRadius: 14, padding: 22, flexDirection: 'column', gap: 10 }}&gt;&#10;                &lt;Text style={{ fontSize: 20, fontWeight: 600, color: '#2563EB' }}&gt;为什么分层&lt;/Text&gt;&#10;                &lt;Text style={{ fontSize: 17, color: '#0F172A', lineHeight: 1.6 }}&gt;&#10;                    让&quot;语言理解&quot;（可能出错）与&quot;数值计算&quot;（必须确定）分属不同层，出错时不会污染数字。&#10;                &lt;/Text&gt;&#10;            &lt;/Box&gt;&#10;            &lt;Box style={{ flex: 1, background: '#FFFFFF', border: '1px solid #E2E8F0', borderRadius: 14, padding: 22, flexDirection: 'column', gap: 10 }}&gt;&#10;                &lt;Text style={{ fontSize: 20, fontWeight: 600, color: '#2563EB' }}&gt;为什么双库&lt;/Text&gt;&#10;                &lt;Text style={{ fontSize: 17, color: '#0F172A', lineHeight: 1.6 }}&gt;&#10;                    事实表只读、应用库常写，物理隔离可保证对账基准不被业务写入污染。&#10;                &lt;/Text&gt;&#10;            &lt;/Box&gt;&#10;            &lt;Box style={{ flex: 1, background: '#2563EB', borderRadius: 14, padding: 22, flexDirection: 'column', gap: 10, justifyContent: 'center' }}&gt;&#10;                &lt;Text style={{ fontSize: 44, fontWeight: 'bold', color: '#FFFFFF' }}&gt;4 层&lt;/Text&gt;&#10;                &lt;Text style={{ fontSize: 16, color: 'rgba(255,255,255,0.9)', lineHeight: 1.5 }}&gt;&#10;                    展示 / 接口 / 内核 / 数据，职责单一、边界清晰&#10;                &lt;/Text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6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448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系统架构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448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前后端分离的四层架构：让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理解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与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计算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彻底分离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1143000"/>
            <a:ext cx="7038975" cy="847725"/>
          </a:xfrm>
          <a:prstGeom prst="roundRect">
            <a:avLst>
              <a:gd name="adj" fmla="val 15730"/>
            </a:avLst>
          </a:pr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57250" y="1438275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① 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前端展示层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2590800" y="1409700"/>
            <a:ext cx="481012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指令输入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生成进度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报告预览与确认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归档导出</a:t>
            </a:r>
            <a:r>
              <a:rPr lang="en-US" sz="1350">
                <a:solidFill>
                  <a:srgbClr val="FFFFFF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FFFFFF"/>
                </a:solidFill>
                <a:latin typeface="思源黑体"/>
                <a:ea typeface="思源黑体"/>
              </a:rPr>
              <a:t>历史筛选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2124075"/>
            <a:ext cx="7038975" cy="1143000"/>
          </a:xfrm>
          <a:prstGeom prst="roundRect">
            <a:avLst>
              <a:gd name="adj" fmla="val 11667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57250" y="257175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思源黑体"/>
                <a:ea typeface="思源黑体"/>
              </a:rPr>
              <a:t>② </a:t>
            </a:r>
            <a:r>
              <a:rPr lang="zh-CN" sz="1650" b="1">
                <a:solidFill>
                  <a:srgbClr val="2563EB"/>
                </a:solidFill>
                <a:latin typeface="思源黑体"/>
                <a:ea typeface="思源黑体"/>
              </a:rPr>
              <a:t>服务接口层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590800" y="2390775"/>
            <a:ext cx="4810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鉴权（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JWT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）·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报告生命周期接口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异步生成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导出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静态托管前端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3400425"/>
            <a:ext cx="7038975" cy="1600200"/>
          </a:xfrm>
          <a:prstGeom prst="roundRect">
            <a:avLst>
              <a:gd name="adj" fmla="val 8333"/>
            </a:avLst>
          </a:prstGeom>
          <a:solidFill>
            <a:srgbClr val="F59E0B">
              <a:alpha val="12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57250" y="394335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59E0B"/>
                </a:solidFill>
                <a:latin typeface="思源黑体"/>
                <a:ea typeface="思源黑体"/>
              </a:rPr>
              <a:t>③ </a:t>
            </a:r>
            <a:r>
              <a:rPr lang="zh-CN" sz="1650" b="1">
                <a:solidFill>
                  <a:srgbClr val="F59E0B"/>
                </a:solidFill>
                <a:latin typeface="思源黑体"/>
                <a:ea typeface="思源黑体"/>
              </a:rPr>
              <a:t>智能体内核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590800" y="3762375"/>
            <a:ext cx="4810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安全网关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意图解析（规则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/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大模型双通道）→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LangGraph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状态机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指标查询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报告渲染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2590800" y="4457700"/>
            <a:ext cx="481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硬约束：本层只产出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意图与文字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，不产出任何数值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5133975"/>
            <a:ext cx="7038975" cy="1152525"/>
          </a:xfrm>
          <a:prstGeom prst="roundRect">
            <a:avLst>
              <a:gd name="adj" fmla="val 11570"/>
            </a:avLst>
          </a:prstGeom>
          <a:solidFill>
            <a:srgbClr val="2563EB">
              <a:alpha val="12000"/>
            </a:srgbClr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57250" y="558165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563EB"/>
                </a:solidFill>
                <a:latin typeface="思源黑体"/>
                <a:ea typeface="思源黑体"/>
              </a:rPr>
              <a:t>④ </a:t>
            </a:r>
            <a:r>
              <a:rPr lang="zh-CN" sz="1650" b="1">
                <a:solidFill>
                  <a:srgbClr val="2563EB"/>
                </a:solidFill>
                <a:latin typeface="思源黑体"/>
                <a:ea typeface="思源黑体"/>
              </a:rPr>
              <a:t>数据存储层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2590800" y="5400675"/>
            <a:ext cx="481012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唯一事实表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sales_detail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（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1,033,031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行，只读）·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应用库（用户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/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报告）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7877175" y="1143000"/>
            <a:ext cx="3705225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086725" y="135255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为什么分层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86725" y="1676400"/>
            <a:ext cx="32861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让</a:t>
            </a: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语言理解</a:t>
            </a: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（可能出错）与</a:t>
            </a: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数值计算</a:t>
            </a: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（必须确定）分属不同层，出错时不会污染数字。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7877175" y="2924175"/>
            <a:ext cx="3705225" cy="1657350"/>
          </a:xfrm>
          <a:prstGeom prst="roundRect">
            <a:avLst>
              <a:gd name="adj" fmla="val 80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86725" y="3133725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为什么双库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86725" y="3457575"/>
            <a:ext cx="32861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事实表只读、应用库常写，物理隔离可保证对账基准不被业务写入污染。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7877175" y="4714875"/>
            <a:ext cx="3705225" cy="1571625"/>
          </a:xfrm>
          <a:prstGeom prst="roundRect">
            <a:avLst>
              <a:gd name="adj" fmla="val 848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086725" y="5067300"/>
            <a:ext cx="32861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4 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层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86725" y="5667375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展示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接口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内核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数据，职责单一、边界清晰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25" name="" descr="// 07 数据与指标口径 · supporting · 左表格 + 右口径卡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数据与指标口径&lt;/Text&gt;&#10;            &lt;Text style={{ fontSize: 16, color: '#64748B' }}&gt;口径唯一、金额可对账——这是&quot;数字可信&quot;的地基&lt;/Text&gt;&#10;        &lt;/Box&gt;&#10;    &lt;/Box&gt;&#10;    {/* B 内容区 */}&#10;    &lt;Box style={{ height: 540, flexDirection: 'row', gap: 24 }}&gt;&#10;        &lt;Box style={{ flex: 1.45, flexDirection: 'column', gap: 10 }}&gt;&#10;            &lt;Text style={{ fontSize: 20, fontWeight: 600, color: '#2563EB' }}&gt;核心指标口径与全期基线&lt;/Text&gt;&#10;            &lt;Box style={{ flexDirection: 'row', background: '#2563EB', borderRadius: '8px 8px 0 0', padding: '12px 16px' }}&gt;&#10;                &lt;Text style={{ flex: 1.1, fontSize: 17, color: '#FFFFFF', fontWeight: 600 }}&gt;指标&lt;/Text&gt;&#10;                &lt;Text style={{ flex: 1.6, fontSize: 17, color: '#FFFFFF', fontWeight: 600 }}&gt;口径&lt;/Text&gt;&#10;                &lt;Text style={{ flex: 1, fontSize: 17, color: '#FFFFFF', fontWeight: 600, textAlign: 'right' }}&gt;全期基线&lt;/Text&gt;&#10;            &lt;/Box&gt;&#10;            &lt;Box style={{ flexDirection: 'row', padding: '12px 16px', background: 'rgba(37,99,235,0.06)' }}&gt;&#10;                &lt;Text style={{ flex: 1.1, fontSize: 17, color: '#0F172A' }}&gt;GMV&lt;/Text&gt;&#10;                &lt;Text style={{ flex: 1.6, fontSize: 16, color: '#64748B' }}&gt;仅有效商品行求和&lt;/Text&gt;&#10;                &lt;Text style={{ flex: 1, fontSize: 17, color: '#0F172A', textAlign: 'right', fontWeight: 600 }}&gt;19,642,692.15&lt;/Text&gt;&#10;            &lt;/Box&gt;&#10;            &lt;Box style={{ flexDirection: 'row', padding: '12px 16px' }}&gt;&#10;                &lt;Text style={{ flex: 1.1, fontSize: 17, color: '#0F172A' }}&gt;有效订单数&lt;/Text&gt;&#10;                &lt;Text style={{ flex: 1.6, fontSize: 16, color: '#64748B' }}&gt;有效商品行的去重订单数&lt;/Text&gt;&#10;                &lt;Text style={{ flex: 1, fontSize: 17, color: '#0F172A', textAlign: 'right', fontWeight: 600 }}&gt;41,353&lt;/Text&gt;&#10;            &lt;/Box&gt;&#10;            &lt;Box style={{ flexDirection: 'row', padding: '12px 16px', background: 'rgba(37,99,235,0.06)' }}&gt;&#10;                &lt;Text style={{ flex: 1.1, fontSize: 17, color: '#0F172A' }}&gt;客单价 AOV&lt;/Text&gt;&#10;                &lt;Text style={{ flex: 1.6, fontSize: 16, color: '#64748B' }}&gt;GMV ÷ 有效订单数&lt;/Text&gt;&#10;                &lt;Text style={{ flex: 1, fontSize: 17, color: '#0F172A', textAlign: 'right', fontWeight: 600 }}&gt;475.00 GBP&lt;/Text&gt;&#10;            &lt;/Box&gt;&#10;            &lt;Box style={{ flexDirection: 'row', padding: '12px 16px' }}&gt;&#10;                &lt;Text style={{ flex: 1.1, fontSize: 17, color: '#0F172A' }}&gt;订单转化率&lt;/Text&gt;&#10;                &lt;Text style={{ flex: 1.6, fontSize: 16, color: '#64748B' }}&gt;有效订单 ÷ 全部订单（重定义）&lt;/Text&gt;&#10;                &lt;Text style={{ flex: 1, fontSize: 17, color: '#0F172A', textAlign: 'right', fontWeight: 600 }}&gt;77.12%&lt;/Text&gt;&#10;            &lt;/Box&gt;&#10;            &lt;Box style={{ flexDirection: 'row', padding: '12px 16px', background: 'rgba(245,158,11,0.12)' }}&gt;&#10;                &lt;Text style={{ flex: 1.1, fontSize: 17, color: '#0F172A', fontWeight: 600 }}&gt;退款率·金额口径&lt;/Text&gt;&#10;                &lt;Text style={{ flex: 1.6, fontSize: 16, color: '#64748B' }}&gt;退款金额 ÷ GMV&lt;/Text&gt;&#10;                &lt;Text style={{ flex: 1, fontSize: 17, color: '#F59E0B', textAlign: 'right', fontWeight: 'bold' }}&gt;7.44%&lt;/Text&gt;&#10;            &lt;/Box&gt;&#10;            &lt;Box style={{ flexDirection: 'row', padding: '12px 16px', background: 'rgba(245,158,11,0.12)', borderRadius: '0 0 8px 8px' }}&gt;&#10;                &lt;Text style={{ flex: 1.1, fontSize: 17, color: '#0F172A', fontWeight: 600 }}&gt;退款率·订单数口径&lt;/Text&gt;&#10;                &lt;Text style={{ flex: 1.6, fontSize: 16, color: '#64748B' }}&gt;退款订单数 ÷ 全部订单数&lt;/Text&gt;&#10;                &lt;Text style={{ flex: 1, fontSize: 17, color: '#F59E0B', textAlign: 'right', fontWeight: 'bold' }}&gt;21.79%&lt;/Text&gt;&#10;            &lt;/Box&gt;&#10;        &lt;/Box&gt;&#10;        &lt;Box style={{ flex: 1, flexDirection: 'column', gap: 16 }}&gt;&#10;            &lt;Box style={{ flex: 1, background: '#FFFFFF', border: '1px solid #E2E8F0', borderRadius: 12, padding: 20, flexDirection: 'column', gap: 8 }}&gt;&#10;                &lt;Text style={{ fontSize: 19, fontWeight: 600, color: '#2563EB' }}&gt;数据来源&lt;/Text&gt;&#10;                &lt;Text style={{ fontSize: 16, color: '#0F172A', lineHeight: 1.6 }}&gt;&#10;                    UCI Online Retail II（CC BY 4.0），2009-12 ~ 2011-12，43 个市场，币种 GBP。原任务书写&quot;天池数据集&quot;，已出《数据源变更说明》书面化。&#10;                &lt;/Text&gt;&#10;            &lt;/Box&gt;&#10;            &lt;Box style={{ flex: 1, background: '#FFFFFF', border: '1px solid #E2E8F0', borderRadius: 12, padding: 20, flexDirection: 'column', gap: 8 }}&gt;&#10;                &lt;Text style={{ fontSize: 19, fontWeight: 600, color: '#2563EB' }}&gt;清洗规则 R1–R6&lt;/Text&gt;&#10;                &lt;Text style={{ fontSize: 16, color: '#0F172A', lineHeight: 1.6 }}&gt;&#10;                    完全重复行删除、负单价行删除、零单价行保留但不计 GMV、客户缺失填 -1、跨 sheet 日期重叠去重。任何金额变动都能落到具体规则。&#10;                &lt;/Text&gt;&#10;            &lt;/Box&gt;&#10;            &lt;Box style={{ flex: 1, background: 'rgba(245,158,11,0.12)', borderRadius: 12, padding: 20, flexDirection: 'column', gap: 8 }}&gt;&#10;                &lt;Text style={{ fontSize: 19, fontWeight: 600, color: '#F59E0B' }}&gt;退款率必须双口径并列&lt;/Text&gt;&#10;                &lt;Text style={{ fontSize: 16, color: '#0F172A', lineHeight: 1.6 }}&gt;&#10;                    两种口径相差约 3 倍（7.44% vs 21.79%）。报表中禁止只写&quot;退款率&quot;而不标注口径，否则使用者会得出完全不同结论。&#10;                &lt;/Text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7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数据与指标口径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口径唯一、金额可对账——这是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数字可信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的地基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6362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核心指标口径与全期基线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1466850"/>
            <a:ext cx="6362700" cy="428625"/>
          </a:xfrm>
          <a:custGeom>
            <a:pathLst>
              <a:path w="668" h="45">
                <a:moveTo>
                  <a:pt x="8" y="0"/>
                </a:moveTo>
                <a:lnTo>
                  <a:pt x="660" y="0"/>
                </a:lnTo>
                <a:cubicBezTo>
                  <a:pt x="664" y="0"/>
                  <a:pt x="668" y="4"/>
                  <a:pt x="668" y="8"/>
                </a:cubicBezTo>
                <a:lnTo>
                  <a:pt x="668" y="45"/>
                </a:lnTo>
                <a:lnTo>
                  <a:pt x="668" y="45"/>
                </a:lnTo>
                <a:lnTo>
                  <a:pt x="0" y="45"/>
                </a:lnTo>
                <a:lnTo>
                  <a:pt x="0" y="45"/>
                </a:ln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指标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2562225" y="158115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口径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181600" y="1581150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思源黑体"/>
                <a:ea typeface="思源黑体"/>
              </a:rPr>
              <a:t>全期基线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1990725"/>
            <a:ext cx="6362700" cy="428625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62000" y="21050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GMV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2562225" y="2105025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仅有效商品行求和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81600" y="2105025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思源黑体"/>
                <a:ea typeface="思源黑体"/>
              </a:rPr>
              <a:t>19,642,692.15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62000" y="2628900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有效订单数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562225" y="262890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有效商品行的去重订单数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181600" y="2628900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思源黑体"/>
                <a:ea typeface="思源黑体"/>
              </a:rPr>
              <a:t>41,353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3038475"/>
            <a:ext cx="6362700" cy="428625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62000" y="315277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客单价</a:t>
            </a:r>
            <a:r>
              <a:rPr lang="en-US" sz="1275">
                <a:solidFill>
                  <a:srgbClr val="0F172A"/>
                </a:solidFill>
                <a:latin typeface="思源黑体"/>
                <a:ea typeface="思源黑体"/>
              </a:rPr>
              <a:t> AOV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562225" y="3152775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GMV ÷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有效订单数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181600" y="3152775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思源黑体"/>
                <a:ea typeface="思源黑体"/>
              </a:rPr>
              <a:t>475.00 GBP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62000" y="3676650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72A"/>
                </a:solidFill>
                <a:latin typeface="思源黑体"/>
                <a:ea typeface="思源黑体"/>
              </a:rPr>
              <a:t>订单转化率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562225" y="367665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有效订单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÷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全部订单（重定义）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181600" y="3676650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思源黑体"/>
                <a:ea typeface="思源黑体"/>
              </a:rPr>
              <a:t>77.12%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4086225"/>
            <a:ext cx="6362700" cy="428625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62000" y="42005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思源黑体"/>
                <a:ea typeface="思源黑体"/>
              </a:rPr>
              <a:t>退款率·金额口径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562225" y="4200525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退款金额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÷ GMV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5181600" y="4200525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7.44%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609600" y="4610100"/>
            <a:ext cx="6362700" cy="428625"/>
          </a:xfrm>
          <a:custGeom>
            <a:pathLst>
              <a:path w="668" h="45">
                <a:moveTo>
                  <a:pt x="0" y="0"/>
                </a:moveTo>
                <a:lnTo>
                  <a:pt x="668" y="0"/>
                </a:lnTo>
                <a:lnTo>
                  <a:pt x="668" y="0"/>
                </a:lnTo>
                <a:lnTo>
                  <a:pt x="668" y="37"/>
                </a:lnTo>
                <a:cubicBezTo>
                  <a:pt x="668" y="41"/>
                  <a:pt x="664" y="45"/>
                  <a:pt x="660" y="45"/>
                </a:cubicBezTo>
                <a:lnTo>
                  <a:pt x="8" y="45"/>
                </a:lnTo>
                <a:cubicBezTo>
                  <a:pt x="4" y="45"/>
                  <a:pt x="0" y="41"/>
                  <a:pt x="0" y="37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62000" y="4724400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思源黑体"/>
                <a:ea typeface="思源黑体"/>
              </a:rPr>
              <a:t>退款率·订单数口径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2562225" y="472440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退款订单数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÷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全部订单数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181600" y="4724400"/>
            <a:ext cx="163830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21.79%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200900" y="1143000"/>
            <a:ext cx="4381500" cy="1609725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391400" y="133350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数据来源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391400" y="1628775"/>
            <a:ext cx="4000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UCI Online Retail II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（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CC BY 4.0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），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2009-12 ~ 2011-12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，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43 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个市场，币种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 GBP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。原任务书写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天池数据集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，已出《数据源变更说明》书面化。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200900" y="2905125"/>
            <a:ext cx="438150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391400" y="309562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563EB"/>
                </a:solidFill>
                <a:latin typeface="思源黑体"/>
                <a:ea typeface="思源黑体"/>
              </a:rPr>
              <a:t>清洗规则</a:t>
            </a:r>
            <a:r>
              <a:rPr lang="en-US" sz="1425" b="1">
                <a:solidFill>
                  <a:srgbClr val="2563EB"/>
                </a:solidFill>
                <a:latin typeface="思源黑体"/>
                <a:ea typeface="思源黑体"/>
              </a:rPr>
              <a:t> R1–R6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91400" y="3390900"/>
            <a:ext cx="4000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完全重复行删除、负单价行删除、零单价行保留但不计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 GMV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、客户缺失填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 -1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、跨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 sheet 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日期重叠去重。任何金额变动都能落到具体规则。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200900" y="4676775"/>
            <a:ext cx="4381500" cy="1609725"/>
          </a:xfrm>
          <a:prstGeom prst="roundRect">
            <a:avLst>
              <a:gd name="adj" fmla="val 7101"/>
            </a:avLst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391400" y="4867275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9E0B"/>
                </a:solidFill>
                <a:latin typeface="思源黑体"/>
                <a:ea typeface="思源黑体"/>
              </a:rPr>
              <a:t>退款率必须双口径并列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391400" y="5162550"/>
            <a:ext cx="4000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两种口径相差约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 3 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倍（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7.44% vs 21.79%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）。报表中禁止只写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退款率</a:t>
            </a:r>
            <a:r>
              <a:rPr lang="en-US" sz="120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0F172A"/>
                </a:solidFill>
                <a:latin typeface="思源黑体"/>
                <a:ea typeface="思源黑体"/>
              </a:rPr>
              <a:t>而不标注口径，否则使用者会得出完全不同结论。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67" name="" descr="// 08 核心实现 · supporting · 三卡横向（关键设计）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核心实现：三个关键设计&lt;/Text&gt;&#10;            &lt;Text style={{ fontSize: 16, color: '#64748B' }}&gt;安全、可用、可追溯——三条工程约束贯穿全链路&lt;/Text&gt;&#10;        &lt;/Box&gt;&#10;    &lt;/Box&gt;&#10;    {/* B 内容区 */}&#10;    &lt;Box style={{ height: 540, flexDirection: 'column', gap: 18 }}&gt;&#10;        &lt;Box style={{ flexDirection: 'row', gap: 18, flex: 1 }}&gt;&#10;            &lt;Box style={{ flex: 1, background: '#FFFFFF', border: '1px solid #E2E8F0', borderRadius: 12, flexDirection: 'column', overflow: 'hidden', boxShadow: '0 4px 20px rgba(15,23,42,0.08)' }}&gt;&#10;                &lt;Box style={{ background: 'linear-gradient(135deg, #2563EB 0%, #0EA5E9 100%)', padding: '14px 22px' }}&gt;&#10;                    &lt;Text style={{ fontSize: 22, fontWeight: 'bold', color: '#FFFFFF' }}&gt;① 安全网关前置&lt;/Text&gt;&#10;                &lt;/Box&gt;&#10;                &lt;Box style={{ padding: 18, flexDirection: 'column', gap: 12, flex: 1 }}&gt;&#10;                    &lt;Text style={{ fontSize: 18, color: '#0F172A', lineHeight: 1.6 }}&gt;&#10;                        在大模型之前做确定性拦截：提示词注入、越权访问、伪造数值、越界日期、破坏性 SQL。&#10;                    &lt;/Text&gt;&#10;                    &lt;Text style={{ fontSize: 18, color: '#0F172A', lineHeight: 1.6 }}&gt;&#10;                        模型可能被诱导绕过，确定性规则不会。先拦截、再交给模型，安全边界才可靠。&#10;                    &lt;/Text&gt;&#10;                    &lt;Text style={{ fontSize: 17, color: '#F59E0B', fontWeight: 600, marginTop: 'auto' }}&gt;&#10;                        危险指令拦截率 100%（17 条评测样本）&#10;                    &lt;/Text&gt;&#10;                &lt;/Box&gt;&#10;            &lt;/Box&gt;&#10;            &lt;Box style={{ flex: 1, background: '#FFFFFF', border: '1px solid #E2E8F0', borderRadius: 12, flexDirection: 'column', overflow: 'hidden', boxShadow: '0 4px 20px rgba(15,23,42,0.08)' }}&gt;&#10;                &lt;Box style={{ background: 'linear-gradient(135deg, #2563EB 0%, #0EA5E9 100%)', padding: '14px 22px' }}&gt;&#10;                    &lt;Text style={{ fontSize: 22, fontWeight: 'bold', color: '#FFFFFF' }}&gt;② 规则 + 大模型双通道&lt;/Text&gt;&#10;                &lt;/Box&gt;&#10;                &lt;Box style={{ padding: 18, flexDirection: 'column', gap: 12, flex: 1 }}&gt;&#10;                    &lt;Text style={{ fontSize: 18, color: '#0F172A', lineHeight: 1.6 }}&gt;&#10;                        规则通道零依赖、亚秒级、结果确定；大模型通道理解能力更强，可处理更口语化的表述。&#10;                    &lt;/Text&gt;&#10;                    &lt;Text style={{ fontSize: 18, color: '#0F172A', lineHeight: 1.6 }}&gt;&#10;                        未配置 Key、超时或返回非法时自动回退规则通道，保证演示与答辩现场不中断。&#10;                    &lt;/Text&gt;&#10;                    &lt;Text style={{ fontSize: 17, color: '#F59E0B', fontWeight: 600, marginTop: 'auto' }}&gt;&#10;                        无 Key 亦可端到端运行&#10;                    &lt;/Text&gt;&#10;                &lt;/Box&gt;&#10;            &lt;/Box&gt;&#10;            &lt;Box style={{ flex: 1, background: '#FFFFFF', border: '1px solid #E2E8F0', borderRadius: 12, flexDirection: 'column', overflow: 'hidden', boxShadow: '0 4px 20px rgba(15,23,42,0.08)' }}&gt;&#10;                &lt;Box style={{ background: 'linear-gradient(135deg, #2563EB 0%, #0EA5E9 100%)', padding: '14px 22px' }}&gt;&#10;                    &lt;Text style={{ fontSize: 22, fontWeight: 'bold', color: '#FFFFFF' }}&gt;③ 状态机与状态守卫&lt;/Text&gt;&#10;                &lt;/Box&gt;&#10;                &lt;Box style={{ padding: 18, flexDirection: 'column', gap: 12, flex: 1 }}&gt;&#10;                    &lt;Text style={{ fontSize: 18, color: '#0F172A', lineHeight: 1.6 }}&gt;&#10;                        Agent 侧用 LangGraph 编排 plan→execute→reflect→build；报告侧用状态机管理 pending→running→drafted→confirmed→archived。&#10;                    &lt;/Text&gt;&#10;                    &lt;Text style={{ fontSize: 18, color: '#0F172A', lineHeight: 1.6 }}&gt;&#10;                        接口与前端按钮按状态双重守卫，仅&quot;待确认&quot;可确认、未完成禁止导出。&#10;                    &lt;/Text&gt;&#10;                    &lt;Text style={{ fontSize: 17, color: '#F59E0B', fontWeight: 600, marginTop: 'auto' }}&gt;&#10;                        确认动作自动版本号 +1&#10;                    &lt;/Text&gt;&#10;                &lt;/Box&gt;&#10;            &lt;/Box&gt;&#10;        &lt;/Box&gt;&#10;        &lt;Box style={{ flexDirection: 'row', alignItems: 'center', gap: 20, background: 'rgba(37,99,235,0.06)', borderRadius: 12, padding: '16px 24px' }}&gt;&#10;            &lt;Text style={{ fontSize: 20, fontWeight: 600, color: '#2563EB' }}&gt;贯穿原则&lt;/Text&gt;&#10;            &lt;Text style={{ fontSize: 19, color: '#0F172A', lineHeight: 1.5 }}&gt;&#10;                大模型只做语言理解，数值一律由计算组件产出——这条约束决定了上面三个设计的形态。&#10;            &lt;/Text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8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核心实现：三个关键设计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安全、可用、可追溯——三条工程约束贯穿全链路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1143000"/>
            <a:ext cx="3543300" cy="43338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609600" y="1143000"/>
            <a:ext cx="3543300" cy="523875"/>
          </a:xfrm>
          <a:custGeom>
            <a:pathLst>
              <a:path w="372" h="55">
                <a:moveTo>
                  <a:pt x="360" y="0"/>
                </a:moveTo>
                <a:cubicBezTo>
                  <a:pt x="367" y="0"/>
                  <a:pt x="372" y="5"/>
                  <a:pt x="372" y="12"/>
                </a:cubicBezTo>
                <a:lnTo>
                  <a:pt x="372" y="55"/>
                </a:lnTo>
                <a:lnTo>
                  <a:pt x="0" y="5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60" y="0"/>
                </a:ln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19150" y="12763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① 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安全网关前置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81050" y="183832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在大模型之前做确定性拦截：提示词注入、越权访问、伪造数值、越界日期、破坏性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SQL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81050" y="2943225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模型可能被诱导绕过，确定性规则不会。先拦截、再交给模型，安全边界才可靠。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81050" y="51054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危险指令拦截率</a:t>
            </a: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 100%</a:t>
            </a: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（</a:t>
            </a: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17 </a:t>
            </a: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条评测样本）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4324350" y="1143000"/>
            <a:ext cx="3543300" cy="43338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4324350" y="1143000"/>
            <a:ext cx="3543300" cy="523875"/>
          </a:xfrm>
          <a:custGeom>
            <a:pathLst>
              <a:path w="372" h="55">
                <a:moveTo>
                  <a:pt x="360" y="0"/>
                </a:moveTo>
                <a:cubicBezTo>
                  <a:pt x="367" y="0"/>
                  <a:pt x="372" y="5"/>
                  <a:pt x="372" y="12"/>
                </a:cubicBezTo>
                <a:lnTo>
                  <a:pt x="372" y="55"/>
                </a:lnTo>
                <a:lnTo>
                  <a:pt x="0" y="5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60" y="0"/>
                </a:ln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533900" y="12763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② 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规则</a:t>
            </a: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 + 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大模型双通道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495800" y="1838325"/>
            <a:ext cx="32004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规则通道零依赖、亚秒级、结果确定；大模型通道理解能力更强，可处理更口语化的表述。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495800" y="2943225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未配置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Key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、超时或返回非法时自动回退规则通道，保证演示与答辩现场不中断。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95800" y="51054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无</a:t>
            </a: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 Key </a:t>
            </a: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亦可端到端运行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8039100" y="1143000"/>
            <a:ext cx="3543300" cy="4333875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8039100" y="1143000"/>
            <a:ext cx="3543300" cy="523875"/>
          </a:xfrm>
          <a:custGeom>
            <a:pathLst>
              <a:path w="372" h="55">
                <a:moveTo>
                  <a:pt x="360" y="0"/>
                </a:moveTo>
                <a:cubicBezTo>
                  <a:pt x="367" y="0"/>
                  <a:pt x="372" y="5"/>
                  <a:pt x="372" y="12"/>
                </a:cubicBezTo>
                <a:lnTo>
                  <a:pt x="372" y="55"/>
                </a:lnTo>
                <a:lnTo>
                  <a:pt x="0" y="55"/>
                </a:ln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360" y="0"/>
                </a:lnTo>
                <a:close/>
              </a:path>
            </a:pathLst>
          </a:custGeom>
          <a:gradFill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248650" y="12763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思源黑体"/>
                <a:ea typeface="思源黑体"/>
              </a:rPr>
              <a:t>③ </a:t>
            </a:r>
            <a:r>
              <a:rPr lang="zh-CN" sz="1650" b="1">
                <a:solidFill>
                  <a:srgbClr val="FFFFFF"/>
                </a:solidFill>
                <a:latin typeface="思源黑体"/>
                <a:ea typeface="思源黑体"/>
              </a:rPr>
              <a:t>状态机与状态守卫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210550" y="1838325"/>
            <a:ext cx="397192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Agent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侧用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LangGraph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编排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plan→execute→reflect→build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；报告侧用状态机管理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pending→running→drafted→confirmed→archived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210550" y="3276600"/>
            <a:ext cx="32004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接口与前端按钮按状态双重守卫，仅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待确认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可确认、未完成禁止导出。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210550" y="5105400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59E0B"/>
                </a:solidFill>
                <a:latin typeface="思源黑体"/>
                <a:ea typeface="思源黑体"/>
              </a:rPr>
              <a:t>确认动作自动版本号</a:t>
            </a:r>
            <a:r>
              <a:rPr lang="en-US" sz="1275" b="1">
                <a:solidFill>
                  <a:srgbClr val="F59E0B"/>
                </a:solidFill>
                <a:latin typeface="思源黑体"/>
                <a:ea typeface="思源黑体"/>
              </a:rPr>
              <a:t> +1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09600" y="5648325"/>
            <a:ext cx="10972800" cy="638175"/>
          </a:xfrm>
          <a:prstGeom prst="roundRect">
            <a:avLst>
              <a:gd name="adj" fmla="val 17910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8200" y="58578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思源黑体"/>
                <a:ea typeface="思源黑体"/>
              </a:rPr>
              <a:t>贯穿原则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790700" y="5800725"/>
            <a:ext cx="72104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0F172A"/>
                </a:solidFill>
                <a:latin typeface="思源黑体"/>
                <a:ea typeface="思源黑体"/>
              </a:rPr>
              <a:t>大模型只做语言理解，数值一律由计算组件产出——这条约束决定了上面三个设计的形态。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94" name="" descr="// 09 实测结果 · hero · 四巨型数据 + 洞察条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实测结果：三项硬指标全部达标&lt;/Text&gt;&#10;            &lt;Text style={{ fontSize: 16, color: '#64748B' }}&gt;以下数字均由脚本跑出，可一键复现，非估算&lt;/Text&gt;&#10;        &lt;/Box&gt;&#10;        &lt;Box style={{ flexDirection: 'column', alignItems: 'flex-end' }}&gt;&#10;            &lt;Text style={{ fontSize: 40, fontWeight: 'bold', color: '#F59E0B' }}&gt;全绿&lt;/Text&gt;&#10;            &lt;Text style={{ fontSize: 14, color: '#64748B' }}&gt;验收状态&lt;/Text&gt;&#10;        &lt;/Box&gt;&#10;    &lt;/Box&gt;&#10;    {/* B 内容区 */}&#10;    &lt;Box style={{ height: 540, flexDirection: 'column', gap: 18 }}&gt;&#10;        &lt;Box style={{ flexDirection: 'row', gap: 18, flex: 1.2 }}&gt;&#10;            &lt;Box style={{ flex: 1, background: 'rgba(245,158,11,0.10)', borderRadius: 16, padding: 24, flexDirection: 'column', justifyContent: 'center', gap: 8 }}&gt;&#10;                &lt;Text style={{ fontSize: 76, fontWeight: 'bold', color: '#F59E0B', letterSpacing: -1 }}&gt;0.000000&lt;/Text&gt;&#10;                &lt;Text style={{ fontSize: 20, fontWeight: 600, color: '#0F172A' }}&gt;指标三方对账最大差异&lt;/Text&gt;&#10;                &lt;Text style={{ fontSize: 16, color: '#64748B', lineHeight: 1.5 }}&gt;pandas / 纯 SQL / 冻结基准&lt;/Text&gt;&#10;            &lt;/Box&gt;&#10;            &lt;Box style={{ flex: 1, background: 'rgba(245,158,11,0.10)', borderRadius: 16, padding: 24, flexDirection: 'column', justifyContent: 'center', gap: 8 }}&gt;&#10;                &lt;Text style={{ fontSize: 76, fontWeight: 'bold', color: '#F59E0B', letterSpacing: -1 }}&gt;100%&lt;/Text&gt;&#10;                &lt;Text style={{ fontSize: 20, fontWeight: 600, color: '#0F172A' }}&gt;指令解析准确率&lt;/Text&gt;&#10;                &lt;Text style={{ fontSize: 16, color: '#64748B', lineHeight: 1.5 }}&gt;主集 55 条 + 留出集 35 条&lt;/Text&gt;&#10;            &lt;/Box&gt;&#10;        &lt;/Box&gt;&#10;        &lt;Box style={{ flexDirection: 'row', gap: 18, flex: 1.2 }}&gt;&#10;            &lt;Box style={{ flex: 1, background: 'rgba(37,99,235,0.06)', borderRadius: 16, padding: 24, flexDirection: 'column', justifyContent: 'center', gap: 8 }}&gt;&#10;                &lt;Text style={{ fontSize: 76, fontWeight: 'bold', color: '#2563EB', letterSpacing: -1 }}&gt;0.06s&lt;/Text&gt;&#10;                &lt;Text style={{ fontSize: 20, fontWeight: 600, color: '#0F172A' }}&gt;单份日报生成均值&lt;/Text&gt;&#10;                &lt;Text style={{ fontSize: 16, color: '#64748B', lineHeight: 1.5 }}&gt;目标 ≤120s，实测远优于目标&lt;/Text&gt;&#10;            &lt;/Box&gt;&#10;            &lt;Box style={{ flex: 1, background: 'rgba(37,99,235,0.06)', borderRadius: 16, padding: 24, flexDirection: 'column', justifyContent: 'center', gap: 8 }}&gt;&#10;                &lt;Text style={{ fontSize: 76, fontWeight: 'bold', color: '#2563EB', letterSpacing: -1 }}&gt;26&lt;/Text&gt;&#10;                &lt;Text style={{ fontSize: 20, fontWeight: 600, color: '#0F172A' }}&gt;自动化测试全部通过&lt;/Text&gt;&#10;                &lt;Text style={{ fontSize: 16, color: '#64748B', lineHeight: 1.5 }}&gt;单元 / 接口 / 端到端 / 评测回归&lt;/Text&gt;&#10;            &lt;/Box&gt;&#10;        &lt;/Box&gt;&#10;        &lt;Box style={{ flex: 1, background: '#2563EB', borderRadius: 16, padding: 18, flexDirection: 'column', justifyContent: 'center', gap: 8 }}&gt;&#10;            &lt;Text style={{ fontSize: 20, fontWeight: 'bold', color: '#FFFFFF' }}&gt;证据链说明&lt;/Text&gt;&#10;            &lt;Text style={{ fontSize: 17, color: 'rgba(255,255,255,0.95)', lineHeight: 1.5 }}&gt;&#10;                指标差异由&quot;双轨对账&quot;给出（两条独立实现互验 + 全量金额断言）；解析准确率由 90 条评测集跑分给出；&#10;                时效由端到端多次采样给出。三项均有对应脚本与机读报告，可现场复跑。&#10;            &lt;/Text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09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实测结果：三项硬指标全部达标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453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以下数字均由脚本跑出，可一键复现，非估算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820400" y="361950"/>
            <a:ext cx="762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59E0B"/>
                </a:solidFill>
                <a:latin typeface="思源黑体"/>
                <a:ea typeface="思源黑体"/>
              </a:rPr>
              <a:t>全绿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1049000" y="819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验收状态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609600" y="1143000"/>
            <a:ext cx="5400675" cy="1990725"/>
          </a:xfrm>
          <a:prstGeom prst="roundRect">
            <a:avLst>
              <a:gd name="adj" fmla="val 7656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1371600"/>
            <a:ext cx="49434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F59E0B"/>
                </a:solidFill>
                <a:latin typeface="思源黑体"/>
                <a:ea typeface="思源黑体"/>
              </a:rPr>
              <a:t>0.000000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8200" y="2324100"/>
            <a:ext cx="4943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指标三方对账最大差异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8200" y="262890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pandas /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纯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SQL /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冻结基准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181725" y="1143000"/>
            <a:ext cx="5400675" cy="1990725"/>
          </a:xfrm>
          <a:prstGeom prst="roundRect">
            <a:avLst>
              <a:gd name="adj" fmla="val 7656"/>
            </a:avLst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10325" y="1371600"/>
            <a:ext cx="49434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F59E0B"/>
                </a:solidFill>
                <a:latin typeface="思源黑体"/>
                <a:ea typeface="思源黑体"/>
              </a:rPr>
              <a:t>100%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410325" y="2324100"/>
            <a:ext cx="4943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指令解析准确率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10325" y="2628900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主集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55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条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留出集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35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条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09600" y="3305175"/>
            <a:ext cx="5400675" cy="1990725"/>
          </a:xfrm>
          <a:prstGeom prst="roundRect">
            <a:avLst>
              <a:gd name="adj" fmla="val 765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38200" y="3533775"/>
            <a:ext cx="49434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2563EB"/>
                </a:solidFill>
                <a:latin typeface="思源黑体"/>
                <a:ea typeface="思源黑体"/>
              </a:rPr>
              <a:t>0.06s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38200" y="4486275"/>
            <a:ext cx="4943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单份日报生成均值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38200" y="47910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目标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≤120s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，实测远优于目标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181725" y="3305175"/>
            <a:ext cx="5400675" cy="1990725"/>
          </a:xfrm>
          <a:prstGeom prst="roundRect">
            <a:avLst>
              <a:gd name="adj" fmla="val 7656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10325" y="3533775"/>
            <a:ext cx="494347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 spc="-75">
                <a:solidFill>
                  <a:srgbClr val="2563EB"/>
                </a:solidFill>
                <a:latin typeface="思源黑体"/>
                <a:ea typeface="思源黑体"/>
              </a:rPr>
              <a:t>26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10325" y="4486275"/>
            <a:ext cx="4943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自动化测试全部通过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410325" y="4791075"/>
            <a:ext cx="4943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单元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接口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端到端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评测回归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609600" y="5467350"/>
            <a:ext cx="10972800" cy="123825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81050" y="5638800"/>
            <a:ext cx="1062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证据链说明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781050" y="5943600"/>
            <a:ext cx="106299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指标差异由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双轨对账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给出（两条独立实现互验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+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全量金额断言）；解析准确率由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90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条评测集跑分给出；</a:t>
            </a:r>
            <a:r>
              <a:rPr lang="en-US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 </a:t>
            </a:r>
            <a:r>
              <a:rPr lang="zh-CN" sz="1275">
                <a:solidFill>
                  <a:srgbClr val="FFFFFF">
                    <a:alpha val="95000"/>
                  </a:srgbClr>
                </a:solidFill>
                <a:latin typeface="思源黑体"/>
                <a:ea typeface="思源黑体"/>
              </a:rPr>
              <a:t>时效由端到端多次采样给出。三项均有对应脚本与机读报告，可现场复跑。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 descr="// 10 难点与应对 · supporting · 2×2 难点卡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难点与应对&lt;/Text&gt;&#10;            &lt;Text style={{ fontSize: 16, color: '#64748B' }}&gt;四个真实难点，每个都有工程化对策，而不是&quot;注意一下&quot;&lt;/Text&gt;&#10;        &lt;/Box&gt;&#10;    &lt;/Box&gt;&#10;    {/* B 内容区 */}&#10;    &lt;Box style={{ height: 540, flexDirection: 'column', gap: 18 }}&gt;&#10;        &lt;Box style={{ flexDirection: 'row', gap: 18, flex: 1 }}&gt;&#10;            &lt;Box style={{ flex: 1, background: '#FFFFFF', border: '1px solid #E2E8F0', borderRadius: 12, padding: 22, flexDirection: 'column', gap: 12, boxShadow: '0 4px 20px rgba(15,23,42,0.08)' }}&gt;&#10;                &lt;Box style={{ flexDirection: 'row', alignItems: 'center', gap: 12 }}&gt;&#10;                    &lt;Box style={{ padding: '6px 12px', background: '#F59E0B', borderRadius: 6 }}&gt;&#10;                        &lt;Text style={{ fontSize: 15, color: '#FFFFFF', fontWeight: 600 }}&gt;难点一&lt;/Text&gt;&#10;                    &lt;/Box&gt;&#10;                    &lt;Text style={{ fontSize: 21, fontWeight: 600, color: '#0F172A' }}&gt;模型会&quot;编数字&quot;&lt;/Text&gt;&#10;                &lt;/Box&gt;&#10;                &lt;Text style={{ fontSize: 18, color: '#64748B', lineHeight: 1.6 }}&gt;&#10;                    大模型存在幻觉，可能生成不存在的金额，而报表数字一旦失真就失去价值。&#10;                &lt;/Text&gt;&#10;                &lt;Box style={{ marginTop: 'auto', borderTop: '1px solid #E2E8F0', paddingTop: 12 }}&gt;&#10;                    &lt;Text style={{ fontSize: 18, color: '#0F172A', lineHeight: 1.6 }}&gt;&#10;                        &lt;span style={{ color: '#2563EB', fontWeight: 600 }}&gt;应对：&lt;/span&gt;架构上禁止模型产出数值，只输出结构化意图；所有金额由计算组件产出并附来源脚注。&#10;                    &lt;/Text&gt;&#10;                &lt;/Box&gt;&#10;            &lt;/Box&gt;&#10;            &lt;Box style={{ flex: 1, background: '#FFFFFF', border: '1px solid #E2E8F0', borderRadius: 12, padding: 22, flexDirection: 'column', gap: 12, boxShadow: '0 4px 20px rgba(15,23,42,0.08)' }}&gt;&#10;                &lt;Box style={{ flexDirection: 'row', alignItems: 'center', gap: 12 }}&gt;&#10;                    &lt;Box style={{ padding: '6px 12px', background: '#F59E0B', borderRadius: 6 }}&gt;&#10;                        &lt;Text style={{ fontSize: 15, color: '#FFFFFF', fontWeight: 600 }}&gt;难点二&lt;/Text&gt;&#10;                    &lt;/Box&gt;&#10;                    &lt;Text style={{ fontSize: 21, fontWeight: 600, color: '#0F172A' }}&gt;口径容易扯皮&lt;/Text&gt;&#10;                &lt;/Box&gt;&#10;                &lt;Text style={{ fontSize: 18, color: '#64748B', lineHeight: 1.6 }}&gt;&#10;                    退款率按金额算 7.44%、按订单数算 21.79%，同一指标两种说法都能自圆其说。&#10;                &lt;/Text&gt;&#10;                &lt;Box style={{ marginTop: 'auto', borderTop: '1px solid #E2E8F0', paddingTop: 12 }}&gt;&#10;                    &lt;Text style={{ fontSize: 18, color: '#0F172A', lineHeight: 1.6 }}&gt;&#10;                        &lt;span style={{ color: '#2563EB', fontWeight: 600 }}&gt;应对：&lt;/span&gt;口径文档先行并确认冻结，双口径并列呈现，任何变更走记录；报表中强制标注口径。&#10;                    &lt;/Text&gt;&#10;                &lt;/Box&gt;&#10;            &lt;/Box&gt;&#10;        &lt;/Box&gt;&#10;        &lt;Box style={{ flexDirection: 'row', gap: 18, flex: 1 }}&gt;&#10;            &lt;Box style={{ flex: 1, background: '#FFFFFF', border: '1px solid #E2E8F0', borderRadius: 12, padding: 22, flexDirection: 'column', gap: 12, boxShadow: '0 4px 20px rgba(15,23,42,0.08)' }}&gt;&#10;                &lt;Box style={{ flexDirection: 'row', alignItems: 'center', gap: 12 }}&gt;&#10;                    &lt;Box style={{ padding: '6px 12px', background: '#F59E0B', borderRadius: 6 }}&gt;&#10;                        &lt;Text style={{ fontSize: 15, color: '#FFFFFF', fontWeight: 600 }}&gt;难点三&lt;/Text&gt;&#10;                    &lt;/Box&gt;&#10;                    &lt;Text style={{ fontSize: 21, fontWeight: 600, color: '#0F172A' }}&gt;评测&quot;自己出题自己判&quot;&lt;/Text&gt;&#10;                &lt;/Box&gt;&#10;                &lt;Text style={{ fontSize: 18, color: '#64748B', lineHeight: 1.6 }}&gt;&#10;                    100% 的准确率若来自自产样本，说服力不足，评审很容易质疑。&#10;                &lt;/Text&gt;&#10;                &lt;Box style={{ marginTop: 'auto', borderTop: '1px solid #E2E8F0', paddingTop: 12 }}&gt;&#10;                    &lt;Text style={{ fontSize: 18, color: '#0F172A', lineHeight: 1.6 }}&gt;&#10;                        &lt;span style={{ color: '#2563EB', fontWeight: 600 }}&gt;应对：&lt;/span&gt;另建 35 条表述不同的留出集做泛化验证；规则与大模型双通道对照；并如实声明局限、提请业务抽查。&#10;                    &lt;/Text&gt;&#10;                &lt;/Box&gt;&#10;            &lt;/Box&gt;&#10;            &lt;Box style={{ flex: 1, background: '#FFFFFF', border: '1px solid #E2E8F0', borderRadius: 12, padding: 22, flexDirection: 'column', gap: 12, boxShadow: '0 4px 20px rgba(15,23,42,0.08)' }}&gt;&#10;                &lt;Box style={{ flexDirection: 'row', alignItems: 'center', gap: 12 }}&gt;&#10;                    &lt;Box style={{ padding: '6px 12px', background: '#F59E0B', borderRadius: 6 }}&gt;&#10;                        &lt;Text style={{ fontSize: 15, color: '#FFFFFF', fontWeight: 600 }}&gt;难点四&lt;/Text&gt;&#10;                    &lt;/Box&gt;&#10;                    &lt;Text style={{ fontSize: 21, fontWeight: 600, color: '#0F172A' }}&gt;安全边界靠模型不可靠&lt;/Text&gt;&#10;                &lt;/Box&gt;&#10;                &lt;Text style={{ fontSize: 18, color: '#64748B', lineHeight: 1.6 }}&gt;&#10;                    用户可能诱导模型越权或伪造数据，仅靠提示词约束无法保证安全。&#10;                &lt;/Text&gt;&#10;                &lt;Box style={{ marginTop: 'auto', borderTop: '1px solid #E2E8F0', paddingTop: 12 }}&gt;&#10;                    &lt;Text style={{ fontSize: 18, color: '#0F172A', lineHeight: 1.6 }}&gt;&#10;                        &lt;span style={{ color: '#2563EB', fontWeight: 600 }}&gt;应对：&lt;/span&gt;建立确定性安全网关前置拦截五类危险指令，并纳入评测集持续回归，拦截率 100%。&#10;                    &lt;/Text&gt;&#10;                &lt;/Box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10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3781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难点与应对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3781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四个真实难点，每个都有工程化对策，而不是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注意一下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143000"/>
            <a:ext cx="5400675" cy="2486025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819150" y="1352550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3450" y="14097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难点一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590675" y="137160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模型会</a:t>
            </a: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编数字</a:t>
            </a: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19150" y="1752600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大模型存在幻觉，可能生成不存在的金额，而报表数字一旦失真就失去价值。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19150" y="2628900"/>
            <a:ext cx="4981575" cy="800100"/>
          </a:xfrm>
          <a:custGeom>
            <a:pathLst>
              <a:path w="523" h="84">
                <a:moveTo>
                  <a:pt x="0" y="0"/>
                </a:moveTo>
                <a:lnTo>
                  <a:pt x="523" y="0"/>
                </a:lnTo>
                <a:lnTo>
                  <a:pt x="523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19150" y="2752725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应对：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架构上禁止模型产出数值，只输出结构化意图；所有金额由计算组件产出并附来源脚注。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181725" y="1143000"/>
            <a:ext cx="5400675" cy="2486025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391275" y="1352550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505575" y="14097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难点二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162800" y="137160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口径容易扯皮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391275" y="1752600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退款率按金额算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7.44%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、按订单数算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21.79%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，同一指标两种说法都能自圆其说。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391275" y="2628900"/>
            <a:ext cx="4981575" cy="800100"/>
          </a:xfrm>
          <a:custGeom>
            <a:pathLst>
              <a:path w="523" h="84">
                <a:moveTo>
                  <a:pt x="0" y="0"/>
                </a:moveTo>
                <a:lnTo>
                  <a:pt x="523" y="0"/>
                </a:lnTo>
                <a:lnTo>
                  <a:pt x="523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391275" y="2752725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应对：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口径文档先行并确认冻结，双口径并列呈现，任何变更走记录；报表中强制标注口径。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3800475"/>
            <a:ext cx="5400675" cy="2486025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819150" y="4010025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33450" y="4067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难点三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590675" y="4029075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评测</a:t>
            </a: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自己出题自己判</a:t>
            </a:r>
            <a:r>
              <a:rPr lang="en-US" sz="157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49815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100%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的准确率若来自自产样本，说服力不足，评审很容易质疑。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19150" y="5286375"/>
            <a:ext cx="4981575" cy="800100"/>
          </a:xfrm>
          <a:custGeom>
            <a:pathLst>
              <a:path w="523" h="84">
                <a:moveTo>
                  <a:pt x="0" y="0"/>
                </a:moveTo>
                <a:lnTo>
                  <a:pt x="523" y="0"/>
                </a:lnTo>
                <a:lnTo>
                  <a:pt x="523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19150" y="5410200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应对：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另建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35 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条表述不同的留出集做泛化验证；规则与大模型双通道对照；并如实声明局限、提请业务抽查。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181725" y="3800475"/>
            <a:ext cx="5400675" cy="2486025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"/>
          <p:cNvSpPr/>
          <p:nvPr/>
        </p:nvSpPr>
        <p:spPr>
          <a:xfrm rot="0" flipH="0" flipV="0">
            <a:off x="6391275" y="4010025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505575" y="4067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思源黑体"/>
                <a:ea typeface="思源黑体"/>
              </a:rPr>
              <a:t>难点四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162800" y="4029075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安全边界靠模型不可靠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91275" y="4410075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用户可能诱导模型越权或伪造数据，仅靠提示词约束无法保证安全。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391275" y="5286375"/>
            <a:ext cx="4981575" cy="800100"/>
          </a:xfrm>
          <a:custGeom>
            <a:pathLst>
              <a:path w="523" h="84">
                <a:moveTo>
                  <a:pt x="0" y="0"/>
                </a:moveTo>
                <a:lnTo>
                  <a:pt x="523" y="0"/>
                </a:lnTo>
                <a:lnTo>
                  <a:pt x="523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391275" y="5410200"/>
            <a:ext cx="49815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2563EB"/>
                </a:solidFill>
                <a:latin typeface="思源黑体"/>
                <a:ea typeface="思源黑体"/>
              </a:rPr>
              <a:t>应对：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建立确定性安全网关前置拦截五类危险指令，并纳入评测集持续回归，拦截率</a:t>
            </a:r>
            <a:r>
              <a:rPr lang="en-US" sz="1350">
                <a:solidFill>
                  <a:srgbClr val="0F172A"/>
                </a:solidFill>
                <a:latin typeface="思源黑体"/>
                <a:ea typeface="思源黑体"/>
              </a:rPr>
              <a:t> 100%</a:t>
            </a:r>
            <a:r>
              <a:rPr lang="zh-CN" sz="1350">
                <a:solidFill>
                  <a:srgbClr val="0F172A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// 11 交付物清单 · supporting · 六宫格&#10;&lt;Slide style={{ width: 1280, height: 720, padding: '20px 64px', background: '#FFFFFF', fontFamily: '思源黑体', display: 'flex', flexDirection: 'column' }}&gt;&#10;    {/* A 标题块 */}&#10;    &lt;Box style={{ height: 100, flexDirection: 'row', alignItems: 'center', justifyContent: 'space-between' }}&gt;&#10;        &lt;Box style={{ flexDirection: 'column', gap: 6 }}&gt;&#10;            &lt;Text style={{ fontSize: 34, fontWeight: 'bold', color: '#0F172A' }}&gt;交付物清单&lt;/Text&gt;&#10;            &lt;Text style={{ fontSize: 16, color: '#64748B' }}&gt;从代码到文档，六大交付件，覆盖&quot;能跑、能看、能教、能复现&quot;&lt;/Text&gt;&#10;        &lt;/Box&gt;&#10;        &lt;Box style={{ flexDirection: 'column', alignItems: 'flex-end' }}&gt;&#10;            &lt;Text style={{ fontSize: 40, fontWeight: 'bold', color: '#F59E0B' }}&gt;6&lt;/Text&gt;&#10;            &lt;Text style={{ fontSize: 14, color: '#64748B' }}&gt;交付件&lt;/Text&gt;&#10;        &lt;/Box&gt;&#10;    &lt;/Box&gt;&#10;    {/* B 内容区 */}&#10;    &lt;Box style={{ height: 540, flexDirection: 'column', gap: 18 }}&gt;&#10;        &lt;Box style={{ flexDirection: 'row', gap: 18, flex: 1 }}&gt;&#10;            &lt;Box style={{ flex: 1, background: 'rgba(37,99,235,0.06)', borderRadius: 12, padding: 20, flexDirection: 'column', gap: 8 }}&gt;&#10;                &lt;Text style={{ fontSize: 30, fontWeight: 'bold', color: '#2563EB' }}&gt;01&lt;/Text&gt;&#10;                &lt;Text style={{ fontSize: 20, fontWeight: 600, color: '#0F172A' }}&gt;代码&lt;/Text&gt;&#10;                &lt;Text style={{ fontSize: 16, color: '#64748B', lineHeight: 1.6 }}&gt;&#10;                    前后端源码、指标内核、Agent 编排、提示词与模板、开发环境说明&#10;                &lt;/Text&gt;&#10;            &lt;/Box&gt;&#10;            &lt;Box style={{ flex: 1, background: 'rgba(37,99,235,0.06)', borderRadius: 12, padding: 20, flexDirection: 'column', gap: 8 }}&gt;&#10;                &lt;Text style={{ fontSize: 30, fontWeight: 'bold', color: '#2563EB' }}&gt;02&lt;/Text&gt;&#10;                &lt;Text style={{ fontSize: 20, fontWeight: 600, color: '#0F172A' }}&gt;数据&lt;/Text&gt;&#10;                &lt;Text style={{ fontSize: 16, color: '#64748B', lineHeight: 1.6 }}&gt;&#10;                    销售数据样本、指令评测集（90 条）、指标冻结基准与复现说明&#10;                &lt;/Text&gt;&#10;            &lt;/Box&gt;&#10;            &lt;Box style={{ flex: 1, background: 'rgba(37,99,235,0.06)', borderRadius: 12, padding: 20, flexDirection: 'column', gap: 8 }}&gt;&#10;                &lt;Text style={{ fontSize: 30, fontWeight: 'bold', color: '#2563EB' }}&gt;03&lt;/Text&gt;&#10;                &lt;Text style={{ fontSize: 20, fontWeight: 600, color: '#0F172A' }}&gt;汇报 PPT&lt;/Text&gt;&#10;                &lt;Text style={{ fontSize: 16, color: '#64748B', lineHeight: 1.6 }}&gt;&#10;                    项目概况、技术方案、架构、实现、实测结果、难点与应对&#10;                &lt;/Text&gt;&#10;            &lt;/Box&gt;&#10;        &lt;/Box&gt;&#10;        &lt;Box style={{ flexDirection: 'row', gap: 18, flex: 1 }}&gt;&#10;            &lt;Box style={{ flex: 1, background: 'rgba(37,99,235,0.06)', borderRadius: 12, padding: 20, flexDirection: 'column', gap: 8 }}&gt;&#10;                &lt;Text style={{ fontSize: 30, fontWeight: 'bold', color: '#2563EB' }}&gt;04&lt;/Text&gt;&#10;                &lt;Text style={{ fontSize: 20, fontWeight: 600, color: '#0F172A' }}&gt;实训指导书&lt;/Text&gt;&#10;                &lt;Text style={{ fontSize: 16, color: '#64748B', lineHeight: 1.6 }}&gt;&#10;                    7 篇实训 + 2 篇附录 + AI 共创过程文档，可独立支撑教学&#10;                &lt;/Text&gt;&#10;            &lt;/Box&gt;&#10;            &lt;Box style={{ flex: 1, background: 'rgba(37,99,235,0.06)', borderRadius: 12, padding: 20, flexDirection: 'column', gap: 8 }}&gt;&#10;                &lt;Text style={{ fontSize: 30, fontWeight: 'bold', color: '#2563EB' }}&gt;05&lt;/Text&gt;&#10;                &lt;Text style={{ fontSize: 20, fontWeight: 600, color: '#0F172A' }}&gt;RAG 语料&lt;/Text&gt;&#10;                &lt;Text style={{ fontSize: 16, color: '#64748B', lineHeight: 1.6 }}&gt;&#10;                    18 篇分主题语料 + 提示词，可直接用于智能问答助手&#10;                &lt;/Text&gt;&#10;            &lt;/Box&gt;&#10;            &lt;Box style={{ flex: 1, background: 'rgba(37,99,235,0.06)', borderRadius: 12, padding: 20, flexDirection: 'column', gap: 8 }}&gt;&#10;                &lt;Text style={{ fontSize: 30, fontWeight: 'bold', color: '#2563EB' }}&gt;06&lt;/Text&gt;&#10;                &lt;Text style={{ fontSize: 20, fontWeight: 600, color: '#0F172A' }}&gt;参数文档&lt;/Text&gt;&#10;                &lt;Text style={{ fontSize: 16, color: '#64748B', lineHeight: 1.6 }}&gt;&#10;                    技术栈版本、数据源、指标口径与阈值、运行参数、已知限制&#10;                &lt;/Text&gt;&#10;            &lt;/Box&gt;&#10;        &lt;/Box&gt;&#10;    &lt;/Box&gt;&#10;    {/* C 页脚 */}&#10;    &lt;Box style={{ height: 40, flexDirection: 'row', alignItems: 'center', justifyContent: 'space-between' }}&gt;&#10;        &lt;Text style={{ fontSize: 14, color: '#64748B' }}&gt;电商运营报表自动化 Agent&lt;/Text&gt;&#10;        &lt;Text style={{ fontSize: 14, color: '#64748B' }}&gt;11 / 12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352425"/>
            <a:ext cx="4238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交付物清单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09600" y="800100"/>
            <a:ext cx="4238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从代码到文档，六大交付件，覆盖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能跑、能看、能教、能复现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1334750" y="361950"/>
            <a:ext cx="247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思源黑体"/>
                <a:ea typeface="思源黑体"/>
              </a:rPr>
              <a:t>6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82350" y="819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交付件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1143000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00100" y="133350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01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00100" y="1752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代码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00100" y="2057400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前后端源码、指标内核、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Agent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编排、提示词与模板、开发环境说明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324350" y="1143000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514850" y="133350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02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514850" y="1752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数据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14850" y="2057400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销售数据样本、指令评测集（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90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条）、指标冻结基准与复现说明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39100" y="1143000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229600" y="1333500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03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229600" y="1752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汇报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 PPT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229600" y="2057400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项目概况、技术方案、架构、实现、实测结果、难点与应对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3800475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04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实训指导书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00100" y="4714875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7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篇实训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+ 2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篇附录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+ AI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共创过程文档，可独立支撑教学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324350" y="3800475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05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14850" y="4410075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RAG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语料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514850" y="4714875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18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篇分主题语料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提示词，可直接用于智能问答助手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8039100" y="3800475"/>
            <a:ext cx="3543300" cy="2486025"/>
          </a:xfrm>
          <a:prstGeom prst="roundRect">
            <a:avLst>
              <a:gd name="adj" fmla="val 4598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229600" y="3990975"/>
            <a:ext cx="3162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06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229600" y="4410075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参数文档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229600" y="4714875"/>
            <a:ext cx="3162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技术栈版本、数据源、指标口径与阈值、运行参数、已知限制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90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电商运营报表自动化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Agent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53775" y="64008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1" name="" descr="// 12 总结 · transition · 居中大字 + 落款（无 C 区）&#10;&lt;Slide style={{ width: 1280, height: 720, padding: '20px 64px', background: '#FFFFFF', fontFamily: '思源黑体', display: 'flex', flexDirection: 'column', justifyContent: 'center', alignItems: 'center', gap: 26 }}&gt;&#10;    &lt;Text style={{ fontSize: 16, color: '#2563EB', fontWeight: 600, letterSpacing: 3 }}&gt;总结&lt;/Text&gt;&#10;    &lt;Box style={{ width: 1080, flexDirection: 'column', alignItems: 'center', gap: 20 }}&gt;&#10;        &lt;Text style={{ fontSize: 60, fontWeight: 'bold', color: '#0F172A', lineHeight: 1.25, textAlign: 'center' }}&gt;&#10;            把重复劳动交给机器&lt;br /&gt;&lt;span style={{ color: '#2563EB' }}&gt;把判断留给人&lt;/span&gt;&#10;        &lt;/Text&gt;&#10;        &lt;Box style={{ width: 96, height: 6, background: '#F59E0B', borderRadius: 3 }} /&gt;&#10;        &lt;Text style={{ fontSize: 22, color: '#64748B', lineHeight: 1.7, textAlign: 'center' }}&gt;&#10;            指令解析、指标计算、波动分析、报告生成已全链路自动化；&lt;br /&gt;&#10;            口径定义、异常归因、结果确认仍由人负责——这是本项目对&quot;可信自动化&quot;的边界主张。&#10;        &lt;/Text&gt;&#10;    &lt;/Box&gt;&#10;    &lt;Box style={{ width: 1080, flexDirection: 'row', gap: 18 }}&gt;&#10;        &lt;Box style={{ flex: 1, background: 'rgba(37,99,235,0.06)', borderRadius: 12, padding: '16px 20px', flexDirection: 'column', gap: 4 }}&gt;&#10;            &lt;Text style={{ fontSize: 30, fontWeight: 'bold', color: '#2563EB' }}&gt;0.000000&lt;/Text&gt;&#10;            &lt;Text style={{ fontSize: 15, color: '#64748B' }}&gt;指标三方对账最大差异（6 位小数）&lt;/Text&gt;&#10;        &lt;/Box&gt;&#10;        &lt;Box style={{ flex: 1, background: 'rgba(37,99,235,0.06)', borderRadius: 12, padding: '16px 20px', flexDirection: 'column', gap: 4 }}&gt;&#10;            &lt;Text style={{ fontSize: 30, fontWeight: 'bold', color: '#2563EB' }}&gt;100%&lt;/Text&gt;&#10;            &lt;Text style={{ fontSize: 15, color: '#64748B' }}&gt;主集 55 + 留出集 35 条解析准确率&lt;/Text&gt;&#10;        &lt;/Box&gt;&#10;        &lt;Box style={{ flex: 1, background: 'rgba(37,99,235,0.06)', borderRadius: 12, padding: '16px 20px', flexDirection: 'column', gap: 4 }}&gt;&#10;            &lt;Text style={{ fontSize: 30, fontWeight: 'bold', color: '#2563EB' }}&gt;26&lt;/Text&gt;&#10;            &lt;Text style={{ fontSize: 15, color: '#64748B' }}&gt;自动化测试全部通过&lt;/Text&gt;&#10;        &lt;/Box&gt;&#10;    &lt;/Box&gt;&#10;    &lt;Text style={{ fontSize: 18, color: '#64748B', marginTop: 8 }}&gt;&#10;        汇报完毕　感谢聆听 · 欢迎提问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915025" y="885825"/>
            <a:ext cx="36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 spc="225">
                <a:solidFill>
                  <a:srgbClr val="2563EB"/>
                </a:solidFill>
                <a:latin typeface="思源黑体"/>
                <a:ea typeface="思源黑体"/>
              </a:rPr>
              <a:t>总结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524250" y="1323975"/>
            <a:ext cx="5143500" cy="1714500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500" b="1">
                <a:solidFill>
                  <a:srgbClr val="0F172A"/>
                </a:solidFill>
                <a:latin typeface="思源黑体"/>
                <a:ea typeface="思源黑体"/>
              </a:rPr>
              <a:t>把重复劳动交给机器</a:t>
            </a:r>
            <a:endParaRPr/>
          </a:p>
          <a:p>
            <a:pPr algn="ctr">
              <a:lnSpc>
                <a:spcPct val="125000"/>
              </a:lnSpc>
            </a:pPr>
            <a:r>
              <a:rPr lang="zh-CN" sz="4500" b="1">
                <a:solidFill>
                  <a:srgbClr val="2563EB"/>
                </a:solidFill>
                <a:latin typeface="思源黑体"/>
                <a:ea typeface="思源黑体"/>
              </a:rPr>
              <a:t>把判断留给人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638800" y="3228975"/>
            <a:ext cx="914400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047875" y="3476625"/>
            <a:ext cx="8096250" cy="8572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指令解析、指标计算、波动分析、报告生成已全链路自动化；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口径定义、异常归因、结果确认仍由人负责——这是本项目对</a:t>
            </a:r>
            <a:r>
              <a:rPr lang="en-US" sz="16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可信自动化</a:t>
            </a:r>
            <a:r>
              <a:rPr lang="en-US" sz="165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650">
                <a:solidFill>
                  <a:srgbClr val="64748B"/>
                </a:solidFill>
                <a:latin typeface="思源黑体"/>
                <a:ea typeface="思源黑体"/>
              </a:rPr>
              <a:t>的边界主张。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952500" y="4581525"/>
            <a:ext cx="33147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43000" y="4733925"/>
            <a:ext cx="2933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0.000000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43000" y="51149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指标三方对账最大差异（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>6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位小数）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438650" y="4581525"/>
            <a:ext cx="33147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629150" y="4733925"/>
            <a:ext cx="2933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100%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629150" y="51149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主集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> 55 +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留出集</a:t>
            </a:r>
            <a:r>
              <a:rPr lang="en-US" sz="1125">
                <a:solidFill>
                  <a:srgbClr val="64748B"/>
                </a:solidFill>
                <a:latin typeface="思源黑体"/>
                <a:ea typeface="思源黑体"/>
              </a:rPr>
              <a:t> 35 </a:t>
            </a: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条解析准确率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7924800" y="4581525"/>
            <a:ext cx="33147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115300" y="4733925"/>
            <a:ext cx="29337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563EB"/>
                </a:solidFill>
                <a:latin typeface="思源黑体"/>
                <a:ea typeface="思源黑体"/>
              </a:rPr>
              <a:t>26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115300" y="5114925"/>
            <a:ext cx="293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自动化测试全部通过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95850" y="5762625"/>
            <a:ext cx="2400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汇报完毕　感谢聆听</a:t>
            </a:r>
            <a:r>
              <a:rPr lang="en-US" sz="1350">
                <a:solidFill>
                  <a:srgbClr val="64748B"/>
                </a:solidFill>
                <a:latin typeface="思源黑体"/>
                <a:ea typeface="思源黑体"/>
              </a:rPr>
              <a:t> · </a:t>
            </a:r>
            <a:r>
              <a:rPr lang="zh-CN" sz="1350">
                <a:solidFill>
                  <a:srgbClr val="64748B"/>
                </a:solidFill>
                <a:latin typeface="思源黑体"/>
                <a:ea typeface="思源黑体"/>
              </a:rPr>
              <a:t>欢迎提问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2026-09-10T11:21:39Z</dcterms:created>
  <dcterms:modified xsi:type="dcterms:W3CDTF">2026-09-10T11:21:39Z</dcterms:modified>
</cp:coreProperties>
</file>